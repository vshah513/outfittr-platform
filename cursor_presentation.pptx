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We're covering Cursor, the AI coding IDE. In 4 minutes, you'll see what it does, how the AI powers it, pricing options, enterprise security, and why it's growing fast. Let's start.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Cursor is an AI editor. You describe what you want, and it writes code. Two main features: Tab is smart autocompletion—it gets smarter as you accept or reject its suggestions. Agent is a true coding assistant that can complete tasks by itself—it edits files, runs commands, fixes bugs. You trigger it with Cmd or Ctrl+I in the sidebar. Think of it as a pair programmer that works independently.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Cursor doesn't build its own model. Instead, it integrates frontier models from top providers: OpenAI, Anthropic, Google. You can see a comparison of their capabilities and costs. The Agent works with any of these. There's also an Auto mode that picks the best model automatically based on what's available and what's cheapest. This flexibility means you get state-of-the-art AI without vendor lock-in.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Cursor offers four individual plans. Hobby is free—good for trying it out. Pro is 20 a month and gives you extended Agent requests and unlimited Tab completions. Pro Plus adds 3x usage multiplier on OpenAI and Anthropic models for 60 a month. Ultra, at 200 a month, gives you 20x multiplier and priority access to new features. A recent change: Cursor moved from request-based to usage-based pricing. Pro includes 20 dollars of usage; you can go over that with Auto mode, which spreads requests across models to stay efficient.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teams, Cursor offers Teams at 40 per user per month. You get shared chats and commands, centralized billing, role-based access, and single sign-on via SAML or OIDC. Enterprise pricing is custom. You get pooled usage, invoice billing, full audit logs of AI code, granular controls over which models your team can use, and priority support. Both plans include overage allowances if you exceed your monthly seat usage.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security: Cursor is SOC 2 Type II certified. They commit to annual third-party penetration testing; details available through their Trust Center. Data is encrypted at rest using AES-256 and in transit with TLS 1.2 or higher. Enterprise customers get centralized security controls and compliance references for GDPR and CCPA. If you need audit reports or more details, the Trust Center at trust.cursor.com has them available on request.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Cursor's growth is impressive. In series D, they raised two point three billion at a valuation of 29 point three billion. Top-tier investors are backing them: Accel, Thrive, Andreessen Horowitz, Coatue, NVIDIA, and Google. In their Series C, they claimed over 500 million in annual revenue and more than half the Fortune 500 as daily users. Salesforce published a case study showing over 90 percent of their engineers use Cursor daily and saw double-digit improvements in code velocity and quality. Bottom line: Cursor is scaling fast. If you're evaluating it, focus on whether it fits your workflow, whether the security and compliance story works for you, and whether the pricing model makes sense for your usage.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TextBox 1"/>
          <p:cNvSpPr txBox="1"/>
          <p:nvPr/>
        </p:nvSpPr>
        <p:spPr>
          <a:xfrm>
            <a:off x="457200" y="457200"/>
            <a:ext cx="8229600" cy="1097280"/>
          </a:xfrm>
          <a:prstGeom prst="rect">
            <a:avLst/>
          </a:prstGeom>
          <a:noFill/>
        </p:spPr>
        <p:txBody>
          <a:bodyPr wrap="square">
            <a:spAutoFit/>
          </a:bodyPr>
          <a:lstStyle/>
          <a:p>
            <a:pPr>
              <a:defRPr sz="4400" b="1">
                <a:solidFill>
                  <a:srgbClr val="007AFF"/>
                </a:solidFill>
              </a:defRPr>
            </a:pPr>
            <a:r>
              <a:t>Cursor: AI Coding IDE</a:t>
            </a:r>
          </a:p>
        </p:txBody>
      </p:sp>
      <p:sp>
        <p:nvSpPr>
          <p:cNvPr id="3" name="TextBox 2"/>
          <p:cNvSpPr txBox="1"/>
          <p:nvPr/>
        </p:nvSpPr>
        <p:spPr>
          <a:xfrm>
            <a:off x="457200" y="1554480"/>
            <a:ext cx="8229600" cy="914400"/>
          </a:xfrm>
          <a:prstGeom prst="rect">
            <a:avLst/>
          </a:prstGeom>
          <a:noFill/>
        </p:spPr>
        <p:txBody>
          <a:bodyPr wrap="square">
            <a:spAutoFit/>
          </a:bodyPr>
          <a:lstStyle/>
          <a:p>
            <a:pPr>
              <a:defRPr sz="2000">
                <a:solidFill>
                  <a:srgbClr val="333333"/>
                </a:solidFill>
              </a:defRPr>
            </a:pPr>
            <a:r>
              <a:t>4-minute overview: What it is, how it works, pricing, enterprise posture, traction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1097280"/>
          </a:xfrm>
          <a:prstGeom prst="rect">
            <a:avLst/>
          </a:prstGeom>
          <a:noFill/>
        </p:spPr>
        <p:txBody>
          <a:bodyPr wrap="square">
            <a:spAutoFit/>
          </a:bodyPr>
          <a:lstStyle/>
          <a:p>
            <a:pPr>
              <a:defRPr sz="4400" b="1">
                <a:solidFill>
                  <a:srgbClr val="007AFF"/>
                </a:solidFill>
              </a:defRPr>
            </a:pPr>
            <a:r>
              <a:t>What Cursor is: AI Editor + Coding Agent</a:t>
            </a:r>
          </a:p>
        </p:txBody>
      </p:sp>
      <p:sp>
        <p:nvSpPr>
          <p:cNvPr id="3" name="TextBox 2"/>
          <p:cNvSpPr txBox="1"/>
          <p:nvPr/>
        </p:nvSpPr>
        <p:spPr>
          <a:xfrm>
            <a:off x="731520" y="1645920"/>
            <a:ext cx="7680960" cy="4114800"/>
          </a:xfrm>
          <a:prstGeom prst="rect">
            <a:avLst/>
          </a:prstGeom>
          <a:noFill/>
        </p:spPr>
        <p:txBody>
          <a:bodyPr wrap="square">
            <a:spAutoFit/>
          </a:bodyPr>
          <a:lstStyle/>
          <a:p>
            <a:pPr>
              <a:spcAft>
                <a:spcPts val="1400"/>
              </a:spcAft>
              <a:defRPr sz="1800">
                <a:solidFill>
                  <a:srgbClr val="333333"/>
                </a:solidFill>
              </a:defRPr>
            </a:pPr>
            <a:r>
              <a:t>Describe what you want in natural language; Cursor writes the code</a:t>
            </a:r>
          </a:p>
          <a:p>
            <a:pPr>
              <a:spcAft>
                <a:spcPts val="1400"/>
              </a:spcAft>
              <a:defRPr sz="1800">
                <a:solidFill>
                  <a:srgbClr val="333333"/>
                </a:solidFill>
              </a:defRPr>
            </a:pPr>
            <a:r>
              <a:t>Tab: Intelligent autocompletion that learns from your accept/reject feedback</a:t>
            </a:r>
          </a:p>
          <a:p>
            <a:pPr>
              <a:spcAft>
                <a:spcPts val="1400"/>
              </a:spcAft>
              <a:defRPr sz="1800">
                <a:solidFill>
                  <a:srgbClr val="333333"/>
                </a:solidFill>
              </a:defRPr>
            </a:pPr>
            <a:r>
              <a:t>Agent: Completes complex tasks independently—edits code, runs terminal commands, debugs</a:t>
            </a:r>
          </a:p>
          <a:p>
            <a:pPr>
              <a:spcAft>
                <a:spcPts val="1400"/>
              </a:spcAft>
              <a:defRPr sz="1800">
                <a:solidFill>
                  <a:srgbClr val="333333"/>
                </a:solidFill>
              </a:defRPr>
            </a:pPr>
            <a:r>
              <a:t>Access Agent via Cmd/Ctrl+I sidepane for hands-off coding assistance</a:t>
            </a:r>
          </a:p>
        </p:txBody>
      </p:sp>
      <p:sp>
        <p:nvSpPr>
          <p:cNvPr id="4" name="TextBox 3"/>
          <p:cNvSpPr txBox="1"/>
          <p:nvPr/>
        </p:nvSpPr>
        <p:spPr>
          <a:xfrm>
            <a:off x="457200" y="6217920"/>
            <a:ext cx="8229600" cy="457200"/>
          </a:xfrm>
          <a:prstGeom prst="rect">
            <a:avLst/>
          </a:prstGeom>
          <a:noFill/>
        </p:spPr>
        <p:txBody>
          <a:bodyPr wrap="square">
            <a:spAutoFit/>
          </a:bodyPr>
          <a:lstStyle/>
          <a:p>
            <a:pPr>
              <a:defRPr sz="800" i="1">
                <a:solidFill>
                  <a:srgbClr val="969696"/>
                </a:solidFill>
              </a:defRPr>
            </a:pPr>
            <a:r>
              <a:t>Sources: https://cursor.com/docs | https://cursor.com/docs/agent/overview | https://cursor.com/docs/tab/overview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1097280"/>
          </a:xfrm>
          <a:prstGeom prst="rect">
            <a:avLst/>
          </a:prstGeom>
          <a:noFill/>
        </p:spPr>
        <p:txBody>
          <a:bodyPr wrap="square">
            <a:spAutoFit/>
          </a:bodyPr>
          <a:lstStyle/>
          <a:p>
            <a:pPr>
              <a:defRPr sz="4400" b="1">
                <a:solidFill>
                  <a:srgbClr val="007AFF"/>
                </a:solidFill>
              </a:defRPr>
            </a:pPr>
            <a:r>
              <a:t>AI Backbone: Multi-Provider Models</a:t>
            </a:r>
          </a:p>
        </p:txBody>
      </p:sp>
      <p:sp>
        <p:nvSpPr>
          <p:cNvPr id="3" name="TextBox 2"/>
          <p:cNvSpPr txBox="1"/>
          <p:nvPr/>
        </p:nvSpPr>
        <p:spPr>
          <a:xfrm>
            <a:off x="731520" y="1645920"/>
            <a:ext cx="7680960" cy="4114800"/>
          </a:xfrm>
          <a:prstGeom prst="rect">
            <a:avLst/>
          </a:prstGeom>
          <a:noFill/>
        </p:spPr>
        <p:txBody>
          <a:bodyPr wrap="square">
            <a:spAutoFit/>
          </a:bodyPr>
          <a:lstStyle/>
          <a:p>
            <a:pPr>
              <a:spcAft>
                <a:spcPts val="1400"/>
              </a:spcAft>
              <a:defRPr sz="1800">
                <a:solidFill>
                  <a:srgbClr val="333333"/>
                </a:solidFill>
              </a:defRPr>
            </a:pPr>
            <a:r>
              <a:t>Supports frontier models from OpenAI, Anthropic, Google, and others</a:t>
            </a:r>
          </a:p>
          <a:p>
            <a:pPr>
              <a:spcAft>
                <a:spcPts val="1400"/>
              </a:spcAft>
              <a:defRPr sz="1800">
                <a:solidFill>
                  <a:srgbClr val="333333"/>
                </a:solidFill>
              </a:defRPr>
            </a:pPr>
            <a:r>
              <a:t>Cursor compares capabilities, context windows, and pricing across providers</a:t>
            </a:r>
          </a:p>
          <a:p>
            <a:pPr>
              <a:spcAft>
                <a:spcPts val="1400"/>
              </a:spcAft>
              <a:defRPr sz="1800">
                <a:solidFill>
                  <a:srgbClr val="333333"/>
                </a:solidFill>
              </a:defRPr>
            </a:pPr>
            <a:r>
              <a:t>Agent can work with any supported model; pick based on your task and budget</a:t>
            </a:r>
          </a:p>
          <a:p>
            <a:pPr>
              <a:spcAft>
                <a:spcPts val="1400"/>
              </a:spcAft>
              <a:defRPr sz="1800">
                <a:solidFill>
                  <a:srgbClr val="333333"/>
                </a:solidFill>
              </a:defRPr>
            </a:pPr>
            <a:r>
              <a:t>Auto mode: Cursor intelligently routes requests to optimal model based on capacity/cost</a:t>
            </a:r>
          </a:p>
        </p:txBody>
      </p:sp>
      <p:sp>
        <p:nvSpPr>
          <p:cNvPr id="4" name="TextBox 3"/>
          <p:cNvSpPr txBox="1"/>
          <p:nvPr/>
        </p:nvSpPr>
        <p:spPr>
          <a:xfrm>
            <a:off x="457200" y="6217920"/>
            <a:ext cx="8229600" cy="457200"/>
          </a:xfrm>
          <a:prstGeom prst="rect">
            <a:avLst/>
          </a:prstGeom>
          <a:noFill/>
        </p:spPr>
        <p:txBody>
          <a:bodyPr wrap="square">
            <a:spAutoFit/>
          </a:bodyPr>
          <a:lstStyle/>
          <a:p>
            <a:pPr>
              <a:defRPr sz="800" i="1">
                <a:solidFill>
                  <a:srgbClr val="969696"/>
                </a:solidFill>
              </a:defRPr>
            </a:pPr>
            <a:r>
              <a:t>Source: https://cursor.com/docs/models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1097280"/>
          </a:xfrm>
          <a:prstGeom prst="rect">
            <a:avLst/>
          </a:prstGeom>
          <a:noFill/>
        </p:spPr>
        <p:txBody>
          <a:bodyPr wrap="square">
            <a:spAutoFit/>
          </a:bodyPr>
          <a:lstStyle/>
          <a:p>
            <a:pPr>
              <a:defRPr sz="4400" b="1">
                <a:solidFill>
                  <a:srgbClr val="007AFF"/>
                </a:solidFill>
              </a:defRPr>
            </a:pPr>
            <a:r>
              <a:t>Pricing: Individual Plans</a:t>
            </a:r>
          </a:p>
        </p:txBody>
      </p:sp>
      <p:graphicFrame>
        <p:nvGraphicFramePr>
          <p:cNvPr id="3" name="Table 2"/>
          <p:cNvGraphicFramePr>
            <a:graphicFrameLocks noGrp="1"/>
          </p:cNvGraphicFramePr>
          <p:nvPr/>
        </p:nvGraphicFramePr>
        <p:xfrm>
          <a:off x="457200" y="1645920"/>
          <a:ext cx="8229600" cy="3840480"/>
        </p:xfrm>
        <a:graphic>
          <a:graphicData uri="http://schemas.openxmlformats.org/drawingml/2006/table">
            <a:tbl>
              <a:tblPr firstRow="1" bandRow="1">
                <a:tableStyleId>{5C22544A-7EE6-4342-B048-85BDC9FD1C3A}</a:tableStyleId>
              </a:tblPr>
              <a:tblGrid>
                <a:gridCol w="1645920"/>
                <a:gridCol w="1645920"/>
                <a:gridCol w="1645920"/>
                <a:gridCol w="1645920"/>
                <a:gridCol w="1645920"/>
              </a:tblGrid>
              <a:tr h="768096">
                <a:tc>
                  <a:txBody>
                    <a:bodyPr anchor="ctr"/>
                    <a:lstStyle/>
                    <a:p>
                      <a:pPr algn="ctr">
                        <a:defRPr sz="1200" b="1">
                          <a:solidFill>
                            <a:srgbClr val="FFFFFF"/>
                          </a:solidFill>
                        </a:defRPr>
                      </a:pPr>
                      <a:r>
                        <a:t>Feature</a:t>
                      </a:r>
                    </a:p>
                  </a:txBody>
                  <a:tcPr>
                    <a:solidFill>
                      <a:srgbClr val="007AFF"/>
                    </a:solidFill>
                  </a:tcPr>
                </a:tc>
                <a:tc>
                  <a:txBody>
                    <a:bodyPr anchor="ctr"/>
                    <a:lstStyle/>
                    <a:p>
                      <a:pPr algn="ctr">
                        <a:defRPr sz="1200" b="1">
                          <a:solidFill>
                            <a:srgbClr val="FFFFFF"/>
                          </a:solidFill>
                        </a:defRPr>
                      </a:pPr>
                      <a:r>
                        <a:t>Hobby</a:t>
                      </a:r>
                    </a:p>
                  </a:txBody>
                  <a:tcPr>
                    <a:solidFill>
                      <a:srgbClr val="007AFF"/>
                    </a:solidFill>
                  </a:tcPr>
                </a:tc>
                <a:tc>
                  <a:txBody>
                    <a:bodyPr anchor="ctr"/>
                    <a:lstStyle/>
                    <a:p>
                      <a:pPr algn="ctr">
                        <a:defRPr sz="1200" b="1">
                          <a:solidFill>
                            <a:srgbClr val="FFFFFF"/>
                          </a:solidFill>
                        </a:defRPr>
                      </a:pPr>
                      <a:r>
                        <a:t>Pro</a:t>
                      </a:r>
                    </a:p>
                  </a:txBody>
                  <a:tcPr>
                    <a:solidFill>
                      <a:srgbClr val="007AFF"/>
                    </a:solidFill>
                  </a:tcPr>
                </a:tc>
                <a:tc>
                  <a:txBody>
                    <a:bodyPr anchor="ctr"/>
                    <a:lstStyle/>
                    <a:p>
                      <a:pPr algn="ctr">
                        <a:defRPr sz="1200" b="1">
                          <a:solidFill>
                            <a:srgbClr val="FFFFFF"/>
                          </a:solidFill>
                        </a:defRPr>
                      </a:pPr>
                      <a:r>
                        <a:t>Pro+</a:t>
                      </a:r>
                    </a:p>
                  </a:txBody>
                  <a:tcPr>
                    <a:solidFill>
                      <a:srgbClr val="007AFF"/>
                    </a:solidFill>
                  </a:tcPr>
                </a:tc>
                <a:tc>
                  <a:txBody>
                    <a:bodyPr anchor="ctr"/>
                    <a:lstStyle/>
                    <a:p>
                      <a:pPr algn="ctr">
                        <a:defRPr sz="1200" b="1">
                          <a:solidFill>
                            <a:srgbClr val="FFFFFF"/>
                          </a:solidFill>
                        </a:defRPr>
                      </a:pPr>
                      <a:r>
                        <a:t>Ultra</a:t>
                      </a:r>
                    </a:p>
                  </a:txBody>
                  <a:tcPr>
                    <a:solidFill>
                      <a:srgbClr val="007AFF"/>
                    </a:solidFill>
                  </a:tcPr>
                </a:tc>
              </a:tr>
              <a:tr h="768096">
                <a:tc>
                  <a:txBody>
                    <a:bodyPr anchor="ctr"/>
                    <a:lstStyle/>
                    <a:p>
                      <a:pPr algn="ctr">
                        <a:defRPr sz="1100">
                          <a:solidFill>
                            <a:srgbClr val="333333"/>
                          </a:solidFill>
                        </a:defRPr>
                      </a:pPr>
                      <a:r>
                        <a:t>Monthly Cost</a:t>
                      </a:r>
                    </a:p>
                  </a:txBody>
                  <a:tcPr>
                    <a:solidFill>
                      <a:srgbClr val="FFFFFF"/>
                    </a:solidFill>
                  </a:tcPr>
                </a:tc>
                <a:tc>
                  <a:txBody>
                    <a:bodyPr anchor="ctr"/>
                    <a:lstStyle/>
                    <a:p>
                      <a:pPr algn="ctr">
                        <a:defRPr sz="1100">
                          <a:solidFill>
                            <a:srgbClr val="333333"/>
                          </a:solidFill>
                        </a:defRPr>
                      </a:pPr>
                      <a:r>
                        <a:t>Free</a:t>
                      </a:r>
                    </a:p>
                  </a:txBody>
                  <a:tcPr>
                    <a:solidFill>
                      <a:srgbClr val="FFFFFF"/>
                    </a:solidFill>
                  </a:tcPr>
                </a:tc>
                <a:tc>
                  <a:txBody>
                    <a:bodyPr anchor="ctr"/>
                    <a:lstStyle/>
                    <a:p>
                      <a:pPr algn="ctr">
                        <a:defRPr sz="1100">
                          <a:solidFill>
                            <a:srgbClr val="333333"/>
                          </a:solidFill>
                        </a:defRPr>
                      </a:pPr>
                      <a:r>
                        <a:t>$20</a:t>
                      </a:r>
                    </a:p>
                  </a:txBody>
                  <a:tcPr>
                    <a:solidFill>
                      <a:srgbClr val="FFFFFF"/>
                    </a:solidFill>
                  </a:tcPr>
                </a:tc>
                <a:tc>
                  <a:txBody>
                    <a:bodyPr anchor="ctr"/>
                    <a:lstStyle/>
                    <a:p>
                      <a:pPr algn="ctr">
                        <a:defRPr sz="1100">
                          <a:solidFill>
                            <a:srgbClr val="333333"/>
                          </a:solidFill>
                        </a:defRPr>
                      </a:pPr>
                      <a:r>
                        <a:t>$60</a:t>
                      </a:r>
                    </a:p>
                  </a:txBody>
                  <a:tcPr>
                    <a:solidFill>
                      <a:srgbClr val="FFFFFF"/>
                    </a:solidFill>
                  </a:tcPr>
                </a:tc>
                <a:tc>
                  <a:txBody>
                    <a:bodyPr anchor="ctr"/>
                    <a:lstStyle/>
                    <a:p>
                      <a:pPr algn="ctr">
                        <a:defRPr sz="1100">
                          <a:solidFill>
                            <a:srgbClr val="333333"/>
                          </a:solidFill>
                        </a:defRPr>
                      </a:pPr>
                      <a:r>
                        <a:t>$200</a:t>
                      </a:r>
                    </a:p>
                  </a:txBody>
                  <a:tcPr>
                    <a:solidFill>
                      <a:srgbClr val="FFFFFF"/>
                    </a:solidFill>
                  </a:tcPr>
                </a:tc>
              </a:tr>
              <a:tr h="768096">
                <a:tc>
                  <a:txBody>
                    <a:bodyPr anchor="ctr"/>
                    <a:lstStyle/>
                    <a:p>
                      <a:pPr algn="ctr">
                        <a:defRPr sz="1100">
                          <a:solidFill>
                            <a:srgbClr val="333333"/>
                          </a:solidFill>
                        </a:defRPr>
                      </a:pPr>
                      <a:r>
                        <a:t>Agent Requests</a:t>
                      </a:r>
                    </a:p>
                  </a:txBody>
                  <a:tcPr>
                    <a:solidFill>
                      <a:srgbClr val="F2F2F2"/>
                    </a:solidFill>
                  </a:tcPr>
                </a:tc>
                <a:tc>
                  <a:txBody>
                    <a:bodyPr anchor="ctr"/>
                    <a:lstStyle/>
                    <a:p>
                      <a:pPr algn="ctr">
                        <a:defRPr sz="1100">
                          <a:solidFill>
                            <a:srgbClr val="333333"/>
                          </a:solidFill>
                        </a:defRPr>
                      </a:pPr>
                      <a:r>
                        <a:t>Limited</a:t>
                      </a:r>
                    </a:p>
                  </a:txBody>
                  <a:tcPr>
                    <a:solidFill>
                      <a:srgbClr val="F2F2F2"/>
                    </a:solidFill>
                  </a:tcPr>
                </a:tc>
                <a:tc>
                  <a:txBody>
                    <a:bodyPr anchor="ctr"/>
                    <a:lstStyle/>
                    <a:p>
                      <a:pPr algn="ctr">
                        <a:defRPr sz="1100">
                          <a:solidFill>
                            <a:srgbClr val="333333"/>
                          </a:solidFill>
                        </a:defRPr>
                      </a:pPr>
                      <a:r>
                        <a:t>Extended</a:t>
                      </a:r>
                    </a:p>
                  </a:txBody>
                  <a:tcPr>
                    <a:solidFill>
                      <a:srgbClr val="F2F2F2"/>
                    </a:solidFill>
                  </a:tcPr>
                </a:tc>
                <a:tc>
                  <a:txBody>
                    <a:bodyPr anchor="ctr"/>
                    <a:lstStyle/>
                    <a:p>
                      <a:pPr algn="ctr">
                        <a:defRPr sz="1100">
                          <a:solidFill>
                            <a:srgbClr val="333333"/>
                          </a:solidFill>
                        </a:defRPr>
                      </a:pPr>
                      <a:r>
                        <a:t>Extended</a:t>
                      </a:r>
                    </a:p>
                  </a:txBody>
                  <a:tcPr>
                    <a:solidFill>
                      <a:srgbClr val="F2F2F2"/>
                    </a:solidFill>
                  </a:tcPr>
                </a:tc>
                <a:tc>
                  <a:txBody>
                    <a:bodyPr anchor="ctr"/>
                    <a:lstStyle/>
                    <a:p>
                      <a:pPr algn="ctr">
                        <a:defRPr sz="1100">
                          <a:solidFill>
                            <a:srgbClr val="333333"/>
                          </a:solidFill>
                        </a:defRPr>
                      </a:pPr>
                      <a:r>
                        <a:t>Extended</a:t>
                      </a:r>
                    </a:p>
                  </a:txBody>
                  <a:tcPr>
                    <a:solidFill>
                      <a:srgbClr val="F2F2F2"/>
                    </a:solidFill>
                  </a:tcPr>
                </a:tc>
              </a:tr>
              <a:tr h="768096">
                <a:tc>
                  <a:txBody>
                    <a:bodyPr anchor="ctr"/>
                    <a:lstStyle/>
                    <a:p>
                      <a:pPr algn="ctr">
                        <a:defRPr sz="1100">
                          <a:solidFill>
                            <a:srgbClr val="333333"/>
                          </a:solidFill>
                        </a:defRPr>
                      </a:pPr>
                      <a:r>
                        <a:t>Tab Completions</a:t>
                      </a:r>
                    </a:p>
                  </a:txBody>
                  <a:tcPr>
                    <a:solidFill>
                      <a:srgbClr val="FFFFFF"/>
                    </a:solidFill>
                  </a:tcPr>
                </a:tc>
                <a:tc>
                  <a:txBody>
                    <a:bodyPr anchor="ctr"/>
                    <a:lstStyle/>
                    <a:p>
                      <a:pPr algn="ctr">
                        <a:defRPr sz="1100">
                          <a:solidFill>
                            <a:srgbClr val="333333"/>
                          </a:solidFill>
                        </a:defRPr>
                      </a:pPr>
                      <a:r>
                        <a:t>Limited</a:t>
                      </a:r>
                    </a:p>
                  </a:txBody>
                  <a:tcPr>
                    <a:solidFill>
                      <a:srgbClr val="FFFFFF"/>
                    </a:solidFill>
                  </a:tcPr>
                </a:tc>
                <a:tc>
                  <a:txBody>
                    <a:bodyPr anchor="ctr"/>
                    <a:lstStyle/>
                    <a:p>
                      <a:pPr algn="ctr">
                        <a:defRPr sz="1100">
                          <a:solidFill>
                            <a:srgbClr val="333333"/>
                          </a:solidFill>
                        </a:defRPr>
                      </a:pPr>
                      <a:r>
                        <a:t>Unlimited</a:t>
                      </a:r>
                    </a:p>
                  </a:txBody>
                  <a:tcPr>
                    <a:solidFill>
                      <a:srgbClr val="FFFFFF"/>
                    </a:solidFill>
                  </a:tcPr>
                </a:tc>
                <a:tc>
                  <a:txBody>
                    <a:bodyPr anchor="ctr"/>
                    <a:lstStyle/>
                    <a:p>
                      <a:pPr algn="ctr">
                        <a:defRPr sz="1100">
                          <a:solidFill>
                            <a:srgbClr val="333333"/>
                          </a:solidFill>
                        </a:defRPr>
                      </a:pPr>
                      <a:r>
                        <a:t>Unlimited</a:t>
                      </a:r>
                    </a:p>
                  </a:txBody>
                  <a:tcPr>
                    <a:solidFill>
                      <a:srgbClr val="FFFFFF"/>
                    </a:solidFill>
                  </a:tcPr>
                </a:tc>
                <a:tc>
                  <a:txBody>
                    <a:bodyPr anchor="ctr"/>
                    <a:lstStyle/>
                    <a:p>
                      <a:pPr algn="ctr">
                        <a:defRPr sz="1100">
                          <a:solidFill>
                            <a:srgbClr val="333333"/>
                          </a:solidFill>
                        </a:defRPr>
                      </a:pPr>
                      <a:r>
                        <a:t>Unlimited</a:t>
                      </a:r>
                    </a:p>
                  </a:txBody>
                  <a:tcPr>
                    <a:solidFill>
                      <a:srgbClr val="FFFFFF"/>
                    </a:solidFill>
                  </a:tcPr>
                </a:tc>
              </a:tr>
              <a:tr h="768096">
                <a:tc>
                  <a:txBody>
                    <a:bodyPr anchor="ctr"/>
                    <a:lstStyle/>
                    <a:p>
                      <a:pPr algn="ctr">
                        <a:defRPr sz="1100">
                          <a:solidFill>
                            <a:srgbClr val="333333"/>
                          </a:solidFill>
                        </a:defRPr>
                      </a:pPr>
                      <a:r>
                        <a:t>Model Usage</a:t>
                      </a:r>
                    </a:p>
                  </a:txBody>
                  <a:tcPr>
                    <a:solidFill>
                      <a:srgbClr val="F2F2F2"/>
                    </a:solidFill>
                  </a:tcPr>
                </a:tc>
                <a:tc>
                  <a:txBody>
                    <a:bodyPr anchor="ctr"/>
                    <a:lstStyle/>
                    <a:p>
                      <a:pPr algn="ctr">
                        <a:defRPr sz="1100">
                          <a:solidFill>
                            <a:srgbClr val="333333"/>
                          </a:solidFill>
                        </a:defRPr>
                      </a:pPr>
                      <a:r>
                        <a:t>Basic</a:t>
                      </a:r>
                    </a:p>
                  </a:txBody>
                  <a:tcPr>
                    <a:solidFill>
                      <a:srgbClr val="F2F2F2"/>
                    </a:solidFill>
                  </a:tcPr>
                </a:tc>
                <a:tc>
                  <a:txBody>
                    <a:bodyPr anchor="ctr"/>
                    <a:lstStyle/>
                    <a:p>
                      <a:pPr algn="ctr">
                        <a:defRPr sz="1100">
                          <a:solidFill>
                            <a:srgbClr val="333333"/>
                          </a:solidFill>
                        </a:defRPr>
                      </a:pPr>
                      <a:r>
                        <a:t>1x</a:t>
                      </a:r>
                    </a:p>
                  </a:txBody>
                  <a:tcPr>
                    <a:solidFill>
                      <a:srgbClr val="F2F2F2"/>
                    </a:solidFill>
                  </a:tcPr>
                </a:tc>
                <a:tc>
                  <a:txBody>
                    <a:bodyPr anchor="ctr"/>
                    <a:lstStyle/>
                    <a:p>
                      <a:pPr algn="ctr">
                        <a:defRPr sz="1100">
                          <a:solidFill>
                            <a:srgbClr val="333333"/>
                          </a:solidFill>
                        </a:defRPr>
                      </a:pPr>
                      <a:r>
                        <a:t>3x</a:t>
                      </a:r>
                    </a:p>
                  </a:txBody>
                  <a:tcPr>
                    <a:solidFill>
                      <a:srgbClr val="F2F2F2"/>
                    </a:solidFill>
                  </a:tcPr>
                </a:tc>
                <a:tc>
                  <a:txBody>
                    <a:bodyPr anchor="ctr"/>
                    <a:lstStyle/>
                    <a:p>
                      <a:pPr algn="ctr">
                        <a:defRPr sz="1100">
                          <a:solidFill>
                            <a:srgbClr val="333333"/>
                          </a:solidFill>
                        </a:defRPr>
                      </a:pPr>
                      <a:r>
                        <a:t>20x</a:t>
                      </a:r>
                    </a:p>
                  </a:txBody>
                  <a:tcPr>
                    <a:solidFill>
                      <a:srgbClr val="F2F2F2"/>
                    </a:solidFill>
                  </a:tcPr>
                </a:tc>
              </a:tr>
            </a:tbl>
          </a:graphicData>
        </a:graphic>
      </p:graphicFrame>
      <p:sp>
        <p:nvSpPr>
          <p:cNvPr id="4" name="TextBox 3"/>
          <p:cNvSpPr txBox="1"/>
          <p:nvPr/>
        </p:nvSpPr>
        <p:spPr>
          <a:xfrm>
            <a:off x="457200" y="5669280"/>
            <a:ext cx="8229600" cy="457200"/>
          </a:xfrm>
          <a:prstGeom prst="rect">
            <a:avLst/>
          </a:prstGeom>
          <a:noFill/>
        </p:spPr>
        <p:txBody>
          <a:bodyPr wrap="none">
            <a:spAutoFit/>
          </a:bodyPr>
          <a:lstStyle/>
          <a:p>
            <a:pPr>
              <a:defRPr sz="1200">
                <a:solidFill>
                  <a:srgbClr val="333333"/>
                </a:solidFill>
              </a:defRPr>
            </a:pPr>
            <a:r>
              <a:t>• Pricing shifted to usage-based model: Pro includes $20/mo of usage. Auto option enables unlimited usage by rotating models.</a:t>
            </a:r>
          </a:p>
        </p:txBody>
      </p:sp>
      <p:sp>
        <p:nvSpPr>
          <p:cNvPr id="5" name="TextBox 4"/>
          <p:cNvSpPr txBox="1"/>
          <p:nvPr/>
        </p:nvSpPr>
        <p:spPr>
          <a:xfrm>
            <a:off x="457200" y="6217920"/>
            <a:ext cx="8229600" cy="457200"/>
          </a:xfrm>
          <a:prstGeom prst="rect">
            <a:avLst/>
          </a:prstGeom>
          <a:noFill/>
        </p:spPr>
        <p:txBody>
          <a:bodyPr wrap="square">
            <a:spAutoFit/>
          </a:bodyPr>
          <a:lstStyle/>
          <a:p>
            <a:pPr>
              <a:defRPr sz="800" i="1">
                <a:solidFill>
                  <a:srgbClr val="969696"/>
                </a:solidFill>
              </a:defRPr>
            </a:pPr>
            <a:r>
              <a:t>Sources: https://cursor.com/pricing | https://cursor.com/blog/june-2025-pricing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1097280"/>
          </a:xfrm>
          <a:prstGeom prst="rect">
            <a:avLst/>
          </a:prstGeom>
          <a:noFill/>
        </p:spPr>
        <p:txBody>
          <a:bodyPr wrap="square">
            <a:spAutoFit/>
          </a:bodyPr>
          <a:lstStyle/>
          <a:p>
            <a:pPr>
              <a:defRPr sz="4400" b="1">
                <a:solidFill>
                  <a:srgbClr val="007AFF"/>
                </a:solidFill>
              </a:defRPr>
            </a:pPr>
            <a:r>
              <a:t>Teams &amp; Enterprise Packaging</a:t>
            </a:r>
          </a:p>
        </p:txBody>
      </p:sp>
      <p:sp>
        <p:nvSpPr>
          <p:cNvPr id="3" name="TextBox 2"/>
          <p:cNvSpPr txBox="1"/>
          <p:nvPr/>
        </p:nvSpPr>
        <p:spPr>
          <a:xfrm>
            <a:off x="731520" y="1645920"/>
            <a:ext cx="7680960" cy="4114800"/>
          </a:xfrm>
          <a:prstGeom prst="rect">
            <a:avLst/>
          </a:prstGeom>
          <a:noFill/>
        </p:spPr>
        <p:txBody>
          <a:bodyPr wrap="square">
            <a:spAutoFit/>
          </a:bodyPr>
          <a:lstStyle/>
          <a:p>
            <a:pPr>
              <a:spcAft>
                <a:spcPts val="1400"/>
              </a:spcAft>
              <a:defRPr sz="1800">
                <a:solidFill>
                  <a:srgbClr val="333333"/>
                </a:solidFill>
              </a:defRPr>
            </a:pPr>
            <a:r>
              <a:t>Teams ($40/user/mo): Shared chats, centralized billing, RBAC, SAML/OIDC SSO, usage analytics</a:t>
            </a:r>
          </a:p>
          <a:p>
            <a:pPr>
              <a:spcAft>
                <a:spcPts val="1400"/>
              </a:spcAft>
              <a:defRPr sz="1800">
                <a:solidFill>
                  <a:srgbClr val="333333"/>
                </a:solidFill>
              </a:defRPr>
            </a:pPr>
            <a:r>
              <a:t>Enterprise (custom): Pooled usage, invoice/PO billing, SCIM, AI audit logs, granular model controls, priority support</a:t>
            </a:r>
          </a:p>
          <a:p>
            <a:pPr>
              <a:spcAft>
                <a:spcPts val="1400"/>
              </a:spcAft>
              <a:defRPr sz="1800">
                <a:solidFill>
                  <a:srgbClr val="333333"/>
                </a:solidFill>
              </a:defRPr>
            </a:pPr>
            <a:r>
              <a:t>Both include on-demand usage beyond monthly seat allowance</a:t>
            </a:r>
          </a:p>
          <a:p>
            <a:pPr>
              <a:spcAft>
                <a:spcPts val="1400"/>
              </a:spcAft>
              <a:defRPr sz="1800">
                <a:solidFill>
                  <a:srgbClr val="333333"/>
                </a:solidFill>
              </a:defRPr>
            </a:pPr>
            <a:r>
              <a:t>Enterprise gets dedicated admin and security compliance controls</a:t>
            </a:r>
          </a:p>
        </p:txBody>
      </p:sp>
      <p:sp>
        <p:nvSpPr>
          <p:cNvPr id="4" name="TextBox 3"/>
          <p:cNvSpPr txBox="1"/>
          <p:nvPr/>
        </p:nvSpPr>
        <p:spPr>
          <a:xfrm>
            <a:off x="457200" y="6217920"/>
            <a:ext cx="8229600" cy="457200"/>
          </a:xfrm>
          <a:prstGeom prst="rect">
            <a:avLst/>
          </a:prstGeom>
          <a:noFill/>
        </p:spPr>
        <p:txBody>
          <a:bodyPr wrap="square">
            <a:spAutoFit/>
          </a:bodyPr>
          <a:lstStyle/>
          <a:p>
            <a:pPr>
              <a:defRPr sz="800" i="1">
                <a:solidFill>
                  <a:srgbClr val="969696"/>
                </a:solidFill>
              </a:defRPr>
            </a:pPr>
            <a:r>
              <a:t>Sources: https://cursor.com/pricing | https://cursor.com/docs/account/teams/pricing | https://cursor.com/docs/account/teams/sso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1097280"/>
          </a:xfrm>
          <a:prstGeom prst="rect">
            <a:avLst/>
          </a:prstGeom>
          <a:noFill/>
        </p:spPr>
        <p:txBody>
          <a:bodyPr wrap="square">
            <a:spAutoFit/>
          </a:bodyPr>
          <a:lstStyle/>
          <a:p>
            <a:pPr>
              <a:defRPr sz="4400" b="1">
                <a:solidFill>
                  <a:srgbClr val="007AFF"/>
                </a:solidFill>
              </a:defRPr>
            </a:pPr>
            <a:r>
              <a:t>Enterprise Security &amp; Compliance</a:t>
            </a:r>
          </a:p>
        </p:txBody>
      </p:sp>
      <p:sp>
        <p:nvSpPr>
          <p:cNvPr id="3" name="TextBox 2"/>
          <p:cNvSpPr txBox="1"/>
          <p:nvPr/>
        </p:nvSpPr>
        <p:spPr>
          <a:xfrm>
            <a:off x="731520" y="1645920"/>
            <a:ext cx="7680960" cy="4114800"/>
          </a:xfrm>
          <a:prstGeom prst="rect">
            <a:avLst/>
          </a:prstGeom>
          <a:noFill/>
        </p:spPr>
        <p:txBody>
          <a:bodyPr wrap="square">
            <a:spAutoFit/>
          </a:bodyPr>
          <a:lstStyle/>
          <a:p>
            <a:pPr>
              <a:spcAft>
                <a:spcPts val="1400"/>
              </a:spcAft>
              <a:defRPr sz="1800">
                <a:solidFill>
                  <a:srgbClr val="333333"/>
                </a:solidFill>
              </a:defRPr>
            </a:pPr>
            <a:r>
              <a:t>SOC 2 Type II certified; third-party pen tests at least annually (details in Trust Center)</a:t>
            </a:r>
          </a:p>
          <a:p>
            <a:pPr>
              <a:spcAft>
                <a:spcPts val="1400"/>
              </a:spcAft>
              <a:defRPr sz="1800">
                <a:solidFill>
                  <a:srgbClr val="333333"/>
                </a:solidFill>
              </a:defRPr>
            </a:pPr>
            <a:r>
              <a:t>AES-256 encryption at rest; TLS 1.2+ in transit</a:t>
            </a:r>
          </a:p>
          <a:p>
            <a:pPr>
              <a:spcAft>
                <a:spcPts val="1400"/>
              </a:spcAft>
              <a:defRPr sz="1800">
                <a:solidFill>
                  <a:srgbClr val="333333"/>
                </a:solidFill>
              </a:defRPr>
            </a:pPr>
            <a:r>
              <a:t>Centralized security controls, GDPR/CCPA compliance references</a:t>
            </a:r>
          </a:p>
          <a:p>
            <a:pPr>
              <a:spcAft>
                <a:spcPts val="1400"/>
              </a:spcAft>
              <a:defRPr sz="1800">
                <a:solidFill>
                  <a:srgbClr val="333333"/>
                </a:solidFill>
              </a:defRPr>
            </a:pPr>
            <a:r>
              <a:t>Trust Center provides audit resources on request: https://trust.cursor.com</a:t>
            </a:r>
          </a:p>
        </p:txBody>
      </p:sp>
      <p:sp>
        <p:nvSpPr>
          <p:cNvPr id="4" name="TextBox 3"/>
          <p:cNvSpPr txBox="1"/>
          <p:nvPr/>
        </p:nvSpPr>
        <p:spPr>
          <a:xfrm>
            <a:off x="457200" y="6217920"/>
            <a:ext cx="8229600" cy="457200"/>
          </a:xfrm>
          <a:prstGeom prst="rect">
            <a:avLst/>
          </a:prstGeom>
          <a:noFill/>
        </p:spPr>
        <p:txBody>
          <a:bodyPr wrap="square">
            <a:spAutoFit/>
          </a:bodyPr>
          <a:lstStyle/>
          <a:p>
            <a:pPr>
              <a:defRPr sz="800" i="1">
                <a:solidFill>
                  <a:srgbClr val="969696"/>
                </a:solidFill>
              </a:defRPr>
            </a:pPr>
            <a:r>
              <a:t>Sources: https://cursor.com/security | https://cursor.com/enterprise | https://trust.cursor.com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1097280"/>
          </a:xfrm>
          <a:prstGeom prst="rect">
            <a:avLst/>
          </a:prstGeom>
          <a:noFill/>
        </p:spPr>
        <p:txBody>
          <a:bodyPr wrap="square">
            <a:spAutoFit/>
          </a:bodyPr>
          <a:lstStyle/>
          <a:p>
            <a:pPr>
              <a:defRPr sz="4400" b="1">
                <a:solidFill>
                  <a:srgbClr val="007AFF"/>
                </a:solidFill>
              </a:defRPr>
            </a:pPr>
            <a:r>
              <a:t>Traction &amp; Funding: Rapid Growth</a:t>
            </a:r>
          </a:p>
        </p:txBody>
      </p:sp>
      <p:sp>
        <p:nvSpPr>
          <p:cNvPr id="3" name="TextBox 2"/>
          <p:cNvSpPr txBox="1"/>
          <p:nvPr/>
        </p:nvSpPr>
        <p:spPr>
          <a:xfrm>
            <a:off x="731520" y="1645920"/>
            <a:ext cx="7680960" cy="4114800"/>
          </a:xfrm>
          <a:prstGeom prst="rect">
            <a:avLst/>
          </a:prstGeom>
          <a:noFill/>
        </p:spPr>
        <p:txBody>
          <a:bodyPr wrap="square">
            <a:spAutoFit/>
          </a:bodyPr>
          <a:lstStyle/>
          <a:p>
            <a:pPr>
              <a:spcAft>
                <a:spcPts val="1400"/>
              </a:spcAft>
              <a:defRPr sz="1800">
                <a:solidFill>
                  <a:srgbClr val="333333"/>
                </a:solidFill>
              </a:defRPr>
            </a:pPr>
            <a:r>
              <a:t>Series D (2025): $2.3B raised at $29.3B valuation; investors: Accel, Thrive, A16z, Coatue, NVIDIA, Google</a:t>
            </a:r>
          </a:p>
          <a:p>
            <a:pPr>
              <a:spcAft>
                <a:spcPts val="1400"/>
              </a:spcAft>
              <a:defRPr sz="1800">
                <a:solidFill>
                  <a:srgbClr val="333333"/>
                </a:solidFill>
              </a:defRPr>
            </a:pPr>
            <a:r>
              <a:t>Series C: $900M at $9.9B valuation; claimed &gt;$500M ARR and &gt;50% of Fortune 500 daily users</a:t>
            </a:r>
          </a:p>
          <a:p>
            <a:pPr>
              <a:spcAft>
                <a:spcPts val="1400"/>
              </a:spcAft>
              <a:defRPr sz="1800">
                <a:solidFill>
                  <a:srgbClr val="333333"/>
                </a:solidFill>
              </a:defRPr>
            </a:pPr>
            <a:r>
              <a:t>Salesforce case study: &gt;90% of Salesforce engineers use Cursor; reported double-digit gains in velocity &amp; code quality</a:t>
            </a:r>
          </a:p>
          <a:p>
            <a:pPr>
              <a:spcAft>
                <a:spcPts val="1400"/>
              </a:spcAft>
              <a:defRPr sz="1800">
                <a:solidFill>
                  <a:srgbClr val="333333"/>
                </a:solidFill>
              </a:defRPr>
            </a:pPr>
            <a:r>
              <a:t>💡 Bottom line: Cursor is scaling fast. Evaluate fit by workflow fit, security needs, and cost model.</a:t>
            </a:r>
          </a:p>
        </p:txBody>
      </p:sp>
      <p:sp>
        <p:nvSpPr>
          <p:cNvPr id="4" name="TextBox 3"/>
          <p:cNvSpPr txBox="1"/>
          <p:nvPr/>
        </p:nvSpPr>
        <p:spPr>
          <a:xfrm>
            <a:off x="457200" y="6217920"/>
            <a:ext cx="8229600" cy="457200"/>
          </a:xfrm>
          <a:prstGeom prst="rect">
            <a:avLst/>
          </a:prstGeom>
          <a:noFill/>
        </p:spPr>
        <p:txBody>
          <a:bodyPr wrap="square">
            <a:spAutoFit/>
          </a:bodyPr>
          <a:lstStyle/>
          <a:p>
            <a:pPr>
              <a:defRPr sz="800" i="1">
                <a:solidFill>
                  <a:srgbClr val="969696"/>
                </a:solidFill>
              </a:defRPr>
            </a:pPr>
            <a:r>
              <a:t>Sources: https://cursor.com/blog/series-d | https://cursor.com/blog/series-c | https://cursor.com/blog/salesforce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