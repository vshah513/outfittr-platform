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0335"/>
  </p:normalViewPr>
  <p:slideViewPr>
    <p:cSldViewPr snapToGrid="0" snapToObjects="1">
      <p:cViewPr varScale="1">
        <p:scale>
          <a:sx n="122" d="100"/>
          <a:sy n="122" d="100"/>
        </p:scale>
        <p:origin x="155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39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Introduction: Today I'll present Cursor, an AI coding IDE that's transforming how developers write software. I'll cover its value proposition, business model, competition, AI technology, security posture, and growth trajectory.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Proposition: Cursor helps developers ship code faster by writing and refactoring code from natural language. It delivers higher code quality through multi-file refactors and test-aware suggestions. Unlike separate AI chat tools, Cursor is built directly into the IDE, reducing context switching. The Tab completion learns from your patterns, becoming more personalized over time. Target market is professional software engineers, teams, and companies embracing AI-assisted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Model: Cursor monetizes through usage-based SaaS pricing. Individuals can start free with Hobby tier, then upgrade to Pro at $20/month which includes usage credits. Higher tiers offer multiplied usage at premium prices. Teams pay $40 per user per month with usage allocations and overage billing. Enterprise contracts are custom with pooled usage, invoice billing, and premium support. The key insight: revenue scales with AI usage, not just headcount, aligning Cursor's success with customer value.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Competition: In AI coding tools, GitHub Copilot is the main competitor with broad VS Code adoption but limited to OpenAI models. Replit Ghostwriter targets beginners in a cloud IDE. Codeium offers free autocomplete but limited agent features. Traditional tools like VS Code without AI, JetBrains IDEs, and Stack Overflow require manual coding or context switching. Cursor differentiates through: (1) AI-native IDE with deep project awareness, (2) multi-model routing across providers, (3) enterprise-grade security features, and (4) true agent capabilities that autonomously complete coding tasks.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Technologies: Cursor uses frontier LLMs from OpenAI (GPT-4), Anthropic (Claude), Google (Gemini), and others. The Agent system can edit multiple files, run terminal commands, and iterate on feedback autonomously. Cursor's proprietary edge—its 'secret sauce'—is the integration layer: intelligent routing logic, deep IDE integration, and sophisticated project context handling built on top of base models. The Auto mode optimizes for cost, latency, and reliability by routing requests to the best-suited model.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Enterprise Security: Cursor is SOC 2 Type II certified with annual third-party penetration testing. Data is encrypted at rest (AES-256) and in transit (TLS 1.2+). Enterprise customers get admin controls, model restrictions, and RBAC. GDPR and CCPA compliance references are available. The Trust Center at trust.cursor.com provides audit reports and compliance documentation. Why this matters: strong security posture reduces enterprise adoption risk, enabling faster sales cycles. Risks to consider: dependency on third-party AI models, evolving AI regulation landscape, and the need for processes to manage AI-generated code quality and security.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Growth Stage: Cursor is a scaling-stage AI venture. Series D raised $2.3B at a $29.3B valuation. Top investors include Accel, Thrive, Andreessen Horowitz, Coatue, NVIDIA, and Google. They claim over $500M ARR and more than half the Fortune 500 as customers. Salesforce published a case study showing &gt;90% of engineers use Cursor daily with double-digit productivity gains. Significance: Cursor has high potential to reshape software development with AI-native IDEs. Overall assessment: This is a significant AI venture with strong financial backing, real enterprise traction, and meaningful potential to disrupt software development workflows.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Plan: I'll show three quick things. First, natural language to code—I'll type a description and let Agent build a small feature. Second, a multi-file refactor or bug fix to show how Cursor edits across files intelligently. Third, a brief look at model selection and settings to highlight enterprise controls. Total demo time: about 60-90 seconds.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ursor.co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trust.cursor.com/"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Rounded Rectangle 1"/>
          <p:cNvSpPr/>
          <p:nvPr/>
        </p:nvSpPr>
        <p:spPr>
          <a:xfrm rot="20700000">
            <a:off x="6400800" y="-457200"/>
            <a:ext cx="3657600" cy="22860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rot="1800000">
            <a:off x="-914400" y="5029200"/>
            <a:ext cx="2743200" cy="27432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371600" y="914400"/>
            <a:ext cx="6400800" cy="457200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hlinkClick r:id="rId3"/>
          </p:cNvPr>
          <p:cNvSpPr/>
          <p:nvPr/>
        </p:nvSpPr>
        <p:spPr>
          <a:xfrm>
            <a:off x="3749039" y="1371600"/>
            <a:ext cx="1645920" cy="1645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6000" b="1">
                <a:solidFill>
                  <a:srgbClr val="FFFFFF"/>
                </a:solidFill>
              </a:defRPr>
            </a:pPr>
            <a:r>
              <a:rPr dirty="0"/>
              <a:t>C</a:t>
            </a:r>
          </a:p>
        </p:txBody>
      </p:sp>
      <p:sp>
        <p:nvSpPr>
          <p:cNvPr id="6" name="TextBox 5"/>
          <p:cNvSpPr txBox="1"/>
          <p:nvPr/>
        </p:nvSpPr>
        <p:spPr>
          <a:xfrm>
            <a:off x="1371600" y="3200400"/>
            <a:ext cx="6400800" cy="822960"/>
          </a:xfrm>
          <a:prstGeom prst="rect">
            <a:avLst/>
          </a:prstGeom>
          <a:noFill/>
        </p:spPr>
        <p:txBody>
          <a:bodyPr wrap="square" anchor="t">
            <a:spAutoFit/>
          </a:bodyPr>
          <a:lstStyle/>
          <a:p>
            <a:pPr algn="ctr">
              <a:defRPr sz="5400" b="1">
                <a:solidFill>
                  <a:srgbClr val="FFFFFF"/>
                </a:solidFill>
              </a:defRPr>
            </a:pPr>
            <a:r>
              <a:t>Cursor</a:t>
            </a:r>
          </a:p>
        </p:txBody>
      </p:sp>
      <p:sp>
        <p:nvSpPr>
          <p:cNvPr id="7" name="TextBox 6"/>
          <p:cNvSpPr txBox="1"/>
          <p:nvPr/>
        </p:nvSpPr>
        <p:spPr>
          <a:xfrm>
            <a:off x="1371600" y="3931920"/>
            <a:ext cx="6400800" cy="548640"/>
          </a:xfrm>
          <a:prstGeom prst="rect">
            <a:avLst/>
          </a:prstGeom>
          <a:noFill/>
        </p:spPr>
        <p:txBody>
          <a:bodyPr wrap="square" anchor="t">
            <a:spAutoFit/>
          </a:bodyPr>
          <a:lstStyle/>
          <a:p>
            <a:pPr algn="ctr">
              <a:defRPr sz="2800" b="1">
                <a:solidFill>
                  <a:srgbClr val="8B5CF6"/>
                </a:solidFill>
              </a:defRPr>
            </a:pPr>
            <a:r>
              <a:t>AI Coding IDE</a:t>
            </a:r>
          </a:p>
        </p:txBody>
      </p:sp>
      <p:sp>
        <p:nvSpPr>
          <p:cNvPr id="8" name="TextBox 7"/>
          <p:cNvSpPr txBox="1"/>
          <p:nvPr/>
        </p:nvSpPr>
        <p:spPr>
          <a:xfrm>
            <a:off x="1371600" y="4572000"/>
            <a:ext cx="6400800" cy="365760"/>
          </a:xfrm>
          <a:prstGeom prst="rect">
            <a:avLst/>
          </a:prstGeom>
          <a:noFill/>
        </p:spPr>
        <p:txBody>
          <a:bodyPr wrap="square">
            <a:spAutoFit/>
          </a:bodyPr>
          <a:lstStyle/>
          <a:p>
            <a:pPr algn="ctr"/>
            <a:r>
              <a:rPr sz="1400" b="0" u="sng" dirty="0">
                <a:solidFill>
                  <a:srgbClr val="3B82F6"/>
                </a:solidFill>
                <a:hlinkClick r:id="rId3" tooltip="Click to visit Cursor's official website"/>
              </a:rPr>
              <a:t>https://www.cursor.com/</a:t>
            </a:r>
          </a:p>
        </p:txBody>
      </p:sp>
      <p:sp>
        <p:nvSpPr>
          <p:cNvPr id="9" name="TextBox 8"/>
          <p:cNvSpPr txBox="1"/>
          <p:nvPr/>
        </p:nvSpPr>
        <p:spPr>
          <a:xfrm>
            <a:off x="1371599" y="5075799"/>
            <a:ext cx="6400800" cy="338554"/>
          </a:xfrm>
          <a:prstGeom prst="rect">
            <a:avLst/>
          </a:prstGeom>
          <a:noFill/>
        </p:spPr>
        <p:txBody>
          <a:bodyPr wrap="square" anchor="t">
            <a:spAutoFit/>
          </a:bodyPr>
          <a:lstStyle/>
          <a:p>
            <a:pPr algn="ctr">
              <a:defRPr sz="1600" b="0">
                <a:solidFill>
                  <a:srgbClr val="9C9C9C"/>
                </a:solidFill>
              </a:defRPr>
            </a:pPr>
            <a:r>
              <a:rPr lang="en-US" dirty="0"/>
              <a:t>Viraj Shah</a:t>
            </a:r>
            <a:endParaRPr dirty="0"/>
          </a:p>
        </p:txBody>
      </p:sp>
      <p:sp>
        <p:nvSpPr>
          <p:cNvPr id="10" name="TextBox 9"/>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nchor="t">
            <a:spAutoFit/>
          </a:bodyPr>
          <a:lstStyle/>
          <a:p>
            <a:pPr algn="l">
              <a:defRPr sz="3400" b="1">
                <a:solidFill>
                  <a:srgbClr val="FFFFFF"/>
                </a:solidFill>
              </a:defRPr>
            </a:pPr>
            <a:r>
              <a:t>Value Proposition</a:t>
            </a:r>
          </a:p>
        </p:txBody>
      </p:sp>
      <p:sp>
        <p:nvSpPr>
          <p:cNvPr id="3" name="TextBox 2"/>
          <p:cNvSpPr txBox="1"/>
          <p:nvPr/>
        </p:nvSpPr>
        <p:spPr>
          <a:xfrm>
            <a:off x="457200" y="777240"/>
            <a:ext cx="8229600" cy="365760"/>
          </a:xfrm>
          <a:prstGeom prst="rect">
            <a:avLst/>
          </a:prstGeom>
          <a:noFill/>
        </p:spPr>
        <p:txBody>
          <a:bodyPr wrap="square" anchor="t">
            <a:spAutoFit/>
          </a:bodyPr>
          <a:lstStyle/>
          <a:p>
            <a:pPr algn="l">
              <a:defRPr sz="1400" b="0">
                <a:solidFill>
                  <a:srgbClr val="9C9C9C"/>
                </a:solidFill>
              </a:defRPr>
            </a:pPr>
            <a:r>
              <a:t>Why Developers Choose Cursor</a:t>
            </a:r>
          </a:p>
        </p:txBody>
      </p:sp>
      <p:sp>
        <p:nvSpPr>
          <p:cNvPr id="4" name="Rectangle 3"/>
          <p:cNvSpPr/>
          <p:nvPr/>
        </p:nvSpPr>
        <p:spPr>
          <a:xfrm>
            <a:off x="457200" y="1143000"/>
            <a:ext cx="182880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65760" y="1371600"/>
            <a:ext cx="2194560" cy="256032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2999" y="1554480"/>
            <a:ext cx="675861"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You</a:t>
            </a:r>
          </a:p>
        </p:txBody>
      </p:sp>
      <p:sp>
        <p:nvSpPr>
          <p:cNvPr id="7" name="TextBox 6"/>
          <p:cNvSpPr txBox="1"/>
          <p:nvPr/>
        </p:nvSpPr>
        <p:spPr>
          <a:xfrm>
            <a:off x="457200" y="2194560"/>
            <a:ext cx="2011680" cy="320040"/>
          </a:xfrm>
          <a:prstGeom prst="rect">
            <a:avLst/>
          </a:prstGeom>
          <a:noFill/>
        </p:spPr>
        <p:txBody>
          <a:bodyPr wrap="square" anchor="t">
            <a:spAutoFit/>
          </a:bodyPr>
          <a:lstStyle/>
          <a:p>
            <a:pPr algn="ctr">
              <a:defRPr sz="1100" b="1">
                <a:solidFill>
                  <a:srgbClr val="FFFFFF"/>
                </a:solidFill>
              </a:defRPr>
            </a:pPr>
            <a:r>
              <a:t>Natural Language</a:t>
            </a:r>
          </a:p>
        </p:txBody>
      </p:sp>
      <p:sp>
        <p:nvSpPr>
          <p:cNvPr id="8" name="TextBox 7"/>
          <p:cNvSpPr txBox="1"/>
          <p:nvPr/>
        </p:nvSpPr>
        <p:spPr>
          <a:xfrm>
            <a:off x="457200" y="2514600"/>
            <a:ext cx="2011680" cy="1280160"/>
          </a:xfrm>
          <a:prstGeom prst="rect">
            <a:avLst/>
          </a:prstGeom>
          <a:noFill/>
        </p:spPr>
        <p:txBody>
          <a:bodyPr wrap="square" anchor="t">
            <a:spAutoFit/>
          </a:bodyPr>
          <a:lstStyle/>
          <a:p>
            <a:pPr algn="ctr">
              <a:defRPr sz="900" b="0">
                <a:solidFill>
                  <a:srgbClr val="9C9C9C"/>
                </a:solidFill>
              </a:defRPr>
            </a:pPr>
            <a:r>
              <a:t>"Add login with validation"</a:t>
            </a:r>
            <a:br/>
            <a:r>
              <a:t>"Fix the API bug"</a:t>
            </a:r>
            <a:br/>
            <a:r>
              <a:t>"Refactor to async"</a:t>
            </a:r>
          </a:p>
        </p:txBody>
      </p:sp>
      <p:sp>
        <p:nvSpPr>
          <p:cNvPr id="9" name="Right Arrow 8"/>
          <p:cNvSpPr/>
          <p:nvPr/>
        </p:nvSpPr>
        <p:spPr>
          <a:xfrm>
            <a:off x="2651760" y="2468880"/>
            <a:ext cx="457200" cy="22860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00400" y="1371600"/>
            <a:ext cx="1645920" cy="256032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57600" y="1554480"/>
            <a:ext cx="548640" cy="5486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AI</a:t>
            </a:r>
          </a:p>
        </p:txBody>
      </p:sp>
      <p:sp>
        <p:nvSpPr>
          <p:cNvPr id="12" name="TextBox 11"/>
          <p:cNvSpPr txBox="1"/>
          <p:nvPr/>
        </p:nvSpPr>
        <p:spPr>
          <a:xfrm>
            <a:off x="3291840" y="2194560"/>
            <a:ext cx="1463040" cy="320040"/>
          </a:xfrm>
          <a:prstGeom prst="rect">
            <a:avLst/>
          </a:prstGeom>
          <a:noFill/>
        </p:spPr>
        <p:txBody>
          <a:bodyPr wrap="square" anchor="t">
            <a:spAutoFit/>
          </a:bodyPr>
          <a:lstStyle/>
          <a:p>
            <a:pPr algn="ctr">
              <a:defRPr sz="1000" b="1">
                <a:solidFill>
                  <a:srgbClr val="FFFFFF"/>
                </a:solidFill>
              </a:defRPr>
            </a:pPr>
            <a:r>
              <a:t>Cursor Processes</a:t>
            </a:r>
          </a:p>
        </p:txBody>
      </p:sp>
      <p:sp>
        <p:nvSpPr>
          <p:cNvPr id="13" name="Rounded Rectangle 12"/>
          <p:cNvSpPr/>
          <p:nvPr/>
        </p:nvSpPr>
        <p:spPr>
          <a:xfrm>
            <a:off x="3291840" y="2560320"/>
            <a:ext cx="1463040" cy="5943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1">
                <a:solidFill>
                  <a:srgbClr val="FFFFFF"/>
                </a:solidFill>
              </a:defRPr>
            </a:pPr>
            <a:r>
              <a:t>Tab</a:t>
            </a:r>
            <a:br/>
            <a:r>
              <a:t>Completion</a:t>
            </a:r>
          </a:p>
        </p:txBody>
      </p:sp>
      <p:sp>
        <p:nvSpPr>
          <p:cNvPr id="14" name="Rounded Rectangle 13"/>
          <p:cNvSpPr/>
          <p:nvPr/>
        </p:nvSpPr>
        <p:spPr>
          <a:xfrm>
            <a:off x="3291840" y="3200400"/>
            <a:ext cx="1463040" cy="59436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1">
                <a:solidFill>
                  <a:srgbClr val="FFFFFF"/>
                </a:solidFill>
              </a:defRPr>
            </a:pPr>
            <a:r>
              <a:t>Agent</a:t>
            </a:r>
            <a:br/>
            <a:r>
              <a:t>Cmd+I</a:t>
            </a:r>
          </a:p>
        </p:txBody>
      </p:sp>
      <p:sp>
        <p:nvSpPr>
          <p:cNvPr id="15" name="Right Arrow 14"/>
          <p:cNvSpPr/>
          <p:nvPr/>
        </p:nvSpPr>
        <p:spPr>
          <a:xfrm>
            <a:off x="4937760" y="2468880"/>
            <a:ext cx="457200" cy="228600"/>
          </a:xfrm>
          <a:prstGeom prst="rightArrow">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486400" y="1371600"/>
            <a:ext cx="2194560" cy="256032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63640" y="1554480"/>
            <a:ext cx="548640" cy="54864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&lt;/&gt;</a:t>
            </a:r>
          </a:p>
        </p:txBody>
      </p:sp>
      <p:sp>
        <p:nvSpPr>
          <p:cNvPr id="18" name="TextBox 17"/>
          <p:cNvSpPr txBox="1"/>
          <p:nvPr/>
        </p:nvSpPr>
        <p:spPr>
          <a:xfrm>
            <a:off x="5577840" y="2194560"/>
            <a:ext cx="2011680" cy="320040"/>
          </a:xfrm>
          <a:prstGeom prst="rect">
            <a:avLst/>
          </a:prstGeom>
          <a:noFill/>
        </p:spPr>
        <p:txBody>
          <a:bodyPr wrap="square" anchor="t">
            <a:spAutoFit/>
          </a:bodyPr>
          <a:lstStyle/>
          <a:p>
            <a:pPr algn="ctr">
              <a:defRPr sz="1100" b="1">
                <a:solidFill>
                  <a:srgbClr val="FFFFFF"/>
                </a:solidFill>
              </a:defRPr>
            </a:pPr>
            <a:r>
              <a:t>Working Code</a:t>
            </a:r>
          </a:p>
        </p:txBody>
      </p:sp>
      <p:sp>
        <p:nvSpPr>
          <p:cNvPr id="19" name="TextBox 18"/>
          <p:cNvSpPr txBox="1"/>
          <p:nvPr/>
        </p:nvSpPr>
        <p:spPr>
          <a:xfrm>
            <a:off x="5577840" y="2514600"/>
            <a:ext cx="2011680" cy="1280160"/>
          </a:xfrm>
          <a:prstGeom prst="rect">
            <a:avLst/>
          </a:prstGeom>
          <a:noFill/>
        </p:spPr>
        <p:txBody>
          <a:bodyPr wrap="square" anchor="t">
            <a:spAutoFit/>
          </a:bodyPr>
          <a:lstStyle/>
          <a:p>
            <a:pPr algn="ctr">
              <a:defRPr sz="900" b="0">
                <a:solidFill>
                  <a:srgbClr val="9C9C9C"/>
                </a:solidFill>
              </a:defRPr>
            </a:pPr>
            <a:r>
              <a:t>Multi-file edits</a:t>
            </a:r>
            <a:br/>
            <a:r>
              <a:t>Terminal commands</a:t>
            </a:r>
            <a:br/>
            <a:r>
              <a:t>Tests &amp; debugging</a:t>
            </a:r>
            <a:br/>
            <a:r>
              <a:t>Iterative refinement</a:t>
            </a:r>
          </a:p>
        </p:txBody>
      </p:sp>
      <p:sp>
        <p:nvSpPr>
          <p:cNvPr id="20" name="Rounded Rectangle 19"/>
          <p:cNvSpPr/>
          <p:nvPr/>
        </p:nvSpPr>
        <p:spPr>
          <a:xfrm>
            <a:off x="365760" y="4114800"/>
            <a:ext cx="1965960" cy="100584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65760" y="4114800"/>
            <a:ext cx="1965960" cy="3200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Ship Faster</a:t>
            </a:r>
          </a:p>
        </p:txBody>
      </p:sp>
      <p:sp>
        <p:nvSpPr>
          <p:cNvPr id="22" name="TextBox 21"/>
          <p:cNvSpPr txBox="1"/>
          <p:nvPr/>
        </p:nvSpPr>
        <p:spPr>
          <a:xfrm>
            <a:off x="438912" y="4526280"/>
            <a:ext cx="1828800" cy="548640"/>
          </a:xfrm>
          <a:prstGeom prst="rect">
            <a:avLst/>
          </a:prstGeom>
          <a:noFill/>
        </p:spPr>
        <p:txBody>
          <a:bodyPr wrap="square" anchor="t">
            <a:spAutoFit/>
          </a:bodyPr>
          <a:lstStyle/>
          <a:p>
            <a:pPr algn="ctr">
              <a:defRPr sz="800" b="0">
                <a:solidFill>
                  <a:srgbClr val="9C9C9C"/>
                </a:solidFill>
              </a:defRPr>
            </a:pPr>
            <a:r>
              <a:t>AI writes &amp; refactors code from natural language</a:t>
            </a:r>
          </a:p>
        </p:txBody>
      </p:sp>
      <p:sp>
        <p:nvSpPr>
          <p:cNvPr id="23" name="Rounded Rectangle 22"/>
          <p:cNvSpPr/>
          <p:nvPr/>
        </p:nvSpPr>
        <p:spPr>
          <a:xfrm>
            <a:off x="2423160" y="4114800"/>
            <a:ext cx="1965960" cy="100584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423160" y="4114800"/>
            <a:ext cx="1965960" cy="3200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Higher Quality</a:t>
            </a:r>
          </a:p>
        </p:txBody>
      </p:sp>
      <p:sp>
        <p:nvSpPr>
          <p:cNvPr id="25" name="TextBox 24"/>
          <p:cNvSpPr txBox="1"/>
          <p:nvPr/>
        </p:nvSpPr>
        <p:spPr>
          <a:xfrm>
            <a:off x="2496312" y="4526280"/>
            <a:ext cx="1828800" cy="548640"/>
          </a:xfrm>
          <a:prstGeom prst="rect">
            <a:avLst/>
          </a:prstGeom>
          <a:noFill/>
        </p:spPr>
        <p:txBody>
          <a:bodyPr wrap="square" anchor="t">
            <a:spAutoFit/>
          </a:bodyPr>
          <a:lstStyle/>
          <a:p>
            <a:pPr algn="ctr">
              <a:defRPr sz="800" b="0">
                <a:solidFill>
                  <a:srgbClr val="9C9C9C"/>
                </a:solidFill>
              </a:defRPr>
            </a:pPr>
            <a:r>
              <a:t>Multi-file refactors, test-aware suggestions</a:t>
            </a:r>
          </a:p>
        </p:txBody>
      </p:sp>
      <p:sp>
        <p:nvSpPr>
          <p:cNvPr id="26" name="Rounded Rectangle 25"/>
          <p:cNvSpPr/>
          <p:nvPr/>
        </p:nvSpPr>
        <p:spPr>
          <a:xfrm>
            <a:off x="4480560" y="4114800"/>
            <a:ext cx="1965960" cy="100584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480560" y="4114800"/>
            <a:ext cx="1965960" cy="32004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Less Switching</a:t>
            </a:r>
          </a:p>
        </p:txBody>
      </p:sp>
      <p:sp>
        <p:nvSpPr>
          <p:cNvPr id="28" name="TextBox 27"/>
          <p:cNvSpPr txBox="1"/>
          <p:nvPr/>
        </p:nvSpPr>
        <p:spPr>
          <a:xfrm>
            <a:off x="4553712" y="4526280"/>
            <a:ext cx="1828800" cy="548640"/>
          </a:xfrm>
          <a:prstGeom prst="rect">
            <a:avLst/>
          </a:prstGeom>
          <a:noFill/>
        </p:spPr>
        <p:txBody>
          <a:bodyPr wrap="square" anchor="t">
            <a:spAutoFit/>
          </a:bodyPr>
          <a:lstStyle/>
          <a:p>
            <a:pPr algn="ctr">
              <a:defRPr sz="800" b="0">
                <a:solidFill>
                  <a:srgbClr val="9C9C9C"/>
                </a:solidFill>
              </a:defRPr>
            </a:pPr>
            <a:r>
              <a:t>AI built into IDE, not a separate tool</a:t>
            </a:r>
          </a:p>
        </p:txBody>
      </p:sp>
      <p:sp>
        <p:nvSpPr>
          <p:cNvPr id="29" name="Rounded Rectangle 28"/>
          <p:cNvSpPr/>
          <p:nvPr/>
        </p:nvSpPr>
        <p:spPr>
          <a:xfrm>
            <a:off x="6537960" y="4114800"/>
            <a:ext cx="1965960" cy="100584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537960" y="4114800"/>
            <a:ext cx="196596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Personalized</a:t>
            </a:r>
          </a:p>
        </p:txBody>
      </p:sp>
      <p:sp>
        <p:nvSpPr>
          <p:cNvPr id="31" name="TextBox 30"/>
          <p:cNvSpPr txBox="1"/>
          <p:nvPr/>
        </p:nvSpPr>
        <p:spPr>
          <a:xfrm>
            <a:off x="6611112" y="4526280"/>
            <a:ext cx="1828800" cy="548640"/>
          </a:xfrm>
          <a:prstGeom prst="rect">
            <a:avLst/>
          </a:prstGeom>
          <a:noFill/>
        </p:spPr>
        <p:txBody>
          <a:bodyPr wrap="square" anchor="t">
            <a:spAutoFit/>
          </a:bodyPr>
          <a:lstStyle/>
          <a:p>
            <a:pPr algn="ctr">
              <a:defRPr sz="800" b="0">
                <a:solidFill>
                  <a:srgbClr val="9C9C9C"/>
                </a:solidFill>
              </a:defRPr>
            </a:pPr>
            <a:r>
              <a:t>Tab learns from your accept/reject patterns</a:t>
            </a:r>
          </a:p>
        </p:txBody>
      </p:sp>
      <p:sp>
        <p:nvSpPr>
          <p:cNvPr id="32" name="TextBox 31"/>
          <p:cNvSpPr txBox="1"/>
          <p:nvPr/>
        </p:nvSpPr>
        <p:spPr>
          <a:xfrm>
            <a:off x="365760" y="5257800"/>
            <a:ext cx="8412480" cy="320040"/>
          </a:xfrm>
          <a:prstGeom prst="rect">
            <a:avLst/>
          </a:prstGeom>
          <a:noFill/>
        </p:spPr>
        <p:txBody>
          <a:bodyPr wrap="square" anchor="t">
            <a:spAutoFit/>
          </a:bodyPr>
          <a:lstStyle/>
          <a:p>
            <a:pPr algn="ctr">
              <a:defRPr sz="900" b="0">
                <a:solidFill>
                  <a:srgbClr val="525252"/>
                </a:solidFill>
              </a:defRPr>
            </a:pPr>
            <a:r>
              <a:t>Target Market: Professional software engineers, teams, and companies adopting AI-assisted development</a:t>
            </a:r>
          </a:p>
        </p:txBody>
      </p:sp>
      <p:sp>
        <p:nvSpPr>
          <p:cNvPr id="33" name="TextBox 32"/>
          <p:cNvSpPr txBox="1"/>
          <p:nvPr/>
        </p:nvSpPr>
        <p:spPr>
          <a:xfrm>
            <a:off x="274320" y="6537960"/>
            <a:ext cx="8595360" cy="274320"/>
          </a:xfrm>
          <a:prstGeom prst="rect">
            <a:avLst/>
          </a:prstGeom>
          <a:noFill/>
        </p:spPr>
        <p:txBody>
          <a:bodyPr wrap="square" anchor="t">
            <a:spAutoFit/>
          </a:bodyPr>
          <a:lstStyle/>
          <a:p>
            <a:pPr algn="l">
              <a:defRPr sz="700" b="0">
                <a:solidFill>
                  <a:srgbClr val="525252"/>
                </a:solidFill>
              </a:defRPr>
            </a:pPr>
            <a:r>
              <a:t>Sources: cursor.com/docs | cursor.com/docs/agent/overview | cursor.com/docs/tab/overview</a:t>
            </a:r>
          </a:p>
        </p:txBody>
      </p:sp>
      <p:sp>
        <p:nvSpPr>
          <p:cNvPr id="34" name="TextBox 33"/>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nchor="t">
            <a:spAutoFit/>
          </a:bodyPr>
          <a:lstStyle/>
          <a:p>
            <a:pPr algn="l">
              <a:defRPr sz="3400" b="1">
                <a:solidFill>
                  <a:srgbClr val="FFFFFF"/>
                </a:solidFill>
              </a:defRPr>
            </a:pPr>
            <a:r>
              <a:t>Business Model</a:t>
            </a:r>
          </a:p>
        </p:txBody>
      </p:sp>
      <p:sp>
        <p:nvSpPr>
          <p:cNvPr id="3" name="TextBox 2"/>
          <p:cNvSpPr txBox="1"/>
          <p:nvPr/>
        </p:nvSpPr>
        <p:spPr>
          <a:xfrm>
            <a:off x="457200" y="777240"/>
            <a:ext cx="8229600" cy="365760"/>
          </a:xfrm>
          <a:prstGeom prst="rect">
            <a:avLst/>
          </a:prstGeom>
          <a:noFill/>
        </p:spPr>
        <p:txBody>
          <a:bodyPr wrap="square" anchor="t">
            <a:spAutoFit/>
          </a:bodyPr>
          <a:lstStyle/>
          <a:p>
            <a:pPr algn="l">
              <a:defRPr sz="1400" b="0">
                <a:solidFill>
                  <a:srgbClr val="9C9C9C"/>
                </a:solidFill>
              </a:defRPr>
            </a:pPr>
            <a:r>
              <a:t>How Cursor Makes Money</a:t>
            </a:r>
          </a:p>
        </p:txBody>
      </p:sp>
      <p:sp>
        <p:nvSpPr>
          <p:cNvPr id="4" name="Rectangle 3"/>
          <p:cNvSpPr/>
          <p:nvPr/>
        </p:nvSpPr>
        <p:spPr>
          <a:xfrm>
            <a:off x="457200" y="1143000"/>
            <a:ext cx="18288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1371600"/>
            <a:ext cx="2743200" cy="347472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 y="1371600"/>
            <a:ext cx="2743200" cy="6400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t>INDIVIDUALS</a:t>
            </a:r>
          </a:p>
        </p:txBody>
      </p:sp>
      <p:sp>
        <p:nvSpPr>
          <p:cNvPr id="7" name="TextBox 6"/>
          <p:cNvSpPr txBox="1"/>
          <p:nvPr/>
        </p:nvSpPr>
        <p:spPr>
          <a:xfrm>
            <a:off x="411480" y="2057400"/>
            <a:ext cx="2560320" cy="320040"/>
          </a:xfrm>
          <a:prstGeom prst="rect">
            <a:avLst/>
          </a:prstGeom>
          <a:noFill/>
        </p:spPr>
        <p:txBody>
          <a:bodyPr wrap="square" anchor="t">
            <a:spAutoFit/>
          </a:bodyPr>
          <a:lstStyle/>
          <a:p>
            <a:pPr algn="ctr">
              <a:defRPr sz="1100" b="1">
                <a:solidFill>
                  <a:srgbClr val="3B82F6"/>
                </a:solidFill>
              </a:defRPr>
            </a:pPr>
            <a:r>
              <a:t>Usage-Based SaaS</a:t>
            </a:r>
          </a:p>
        </p:txBody>
      </p:sp>
      <p:sp>
        <p:nvSpPr>
          <p:cNvPr id="8" name="TextBox 7"/>
          <p:cNvSpPr txBox="1"/>
          <p:nvPr/>
        </p:nvSpPr>
        <p:spPr>
          <a:xfrm>
            <a:off x="457200" y="2468880"/>
            <a:ext cx="182880" cy="228600"/>
          </a:xfrm>
          <a:prstGeom prst="rect">
            <a:avLst/>
          </a:prstGeom>
          <a:noFill/>
        </p:spPr>
        <p:txBody>
          <a:bodyPr wrap="square" anchor="t">
            <a:spAutoFit/>
          </a:bodyPr>
          <a:lstStyle/>
          <a:p>
            <a:pPr algn="l">
              <a:defRPr sz="1000" b="0">
                <a:solidFill>
                  <a:srgbClr val="3B82F6"/>
                </a:solidFill>
              </a:defRPr>
            </a:pPr>
            <a:r>
              <a:t>•</a:t>
            </a:r>
          </a:p>
        </p:txBody>
      </p:sp>
      <p:sp>
        <p:nvSpPr>
          <p:cNvPr id="9" name="TextBox 8"/>
          <p:cNvSpPr txBox="1"/>
          <p:nvPr/>
        </p:nvSpPr>
        <p:spPr>
          <a:xfrm>
            <a:off x="640080" y="2468880"/>
            <a:ext cx="2286000" cy="365760"/>
          </a:xfrm>
          <a:prstGeom prst="rect">
            <a:avLst/>
          </a:prstGeom>
          <a:noFill/>
        </p:spPr>
        <p:txBody>
          <a:bodyPr wrap="square" anchor="t">
            <a:spAutoFit/>
          </a:bodyPr>
          <a:lstStyle/>
          <a:p>
            <a:pPr algn="l">
              <a:defRPr sz="900" b="0">
                <a:solidFill>
                  <a:srgbClr val="E5E5E5"/>
                </a:solidFill>
              </a:defRPr>
            </a:pPr>
            <a:r>
              <a:t>Hobby: Free tier (limited)</a:t>
            </a:r>
          </a:p>
        </p:txBody>
      </p:sp>
      <p:sp>
        <p:nvSpPr>
          <p:cNvPr id="10" name="TextBox 9"/>
          <p:cNvSpPr txBox="1"/>
          <p:nvPr/>
        </p:nvSpPr>
        <p:spPr>
          <a:xfrm>
            <a:off x="457200" y="2880360"/>
            <a:ext cx="182880" cy="228600"/>
          </a:xfrm>
          <a:prstGeom prst="rect">
            <a:avLst/>
          </a:prstGeom>
          <a:noFill/>
        </p:spPr>
        <p:txBody>
          <a:bodyPr wrap="square" anchor="t">
            <a:spAutoFit/>
          </a:bodyPr>
          <a:lstStyle/>
          <a:p>
            <a:pPr algn="l">
              <a:defRPr sz="1000" b="0">
                <a:solidFill>
                  <a:srgbClr val="3B82F6"/>
                </a:solidFill>
              </a:defRPr>
            </a:pPr>
            <a:r>
              <a:t>•</a:t>
            </a:r>
          </a:p>
        </p:txBody>
      </p:sp>
      <p:sp>
        <p:nvSpPr>
          <p:cNvPr id="11" name="TextBox 10"/>
          <p:cNvSpPr txBox="1"/>
          <p:nvPr/>
        </p:nvSpPr>
        <p:spPr>
          <a:xfrm>
            <a:off x="640080" y="2880360"/>
            <a:ext cx="2286000" cy="365760"/>
          </a:xfrm>
          <a:prstGeom prst="rect">
            <a:avLst/>
          </a:prstGeom>
          <a:noFill/>
        </p:spPr>
        <p:txBody>
          <a:bodyPr wrap="square" anchor="t">
            <a:spAutoFit/>
          </a:bodyPr>
          <a:lstStyle/>
          <a:p>
            <a:pPr algn="l">
              <a:defRPr sz="900" b="0">
                <a:solidFill>
                  <a:srgbClr val="E5E5E5"/>
                </a:solidFill>
              </a:defRPr>
            </a:pPr>
            <a:r>
              <a:t>Pro: $20/mo with usage credits</a:t>
            </a:r>
          </a:p>
        </p:txBody>
      </p:sp>
      <p:sp>
        <p:nvSpPr>
          <p:cNvPr id="12" name="TextBox 11"/>
          <p:cNvSpPr txBox="1"/>
          <p:nvPr/>
        </p:nvSpPr>
        <p:spPr>
          <a:xfrm>
            <a:off x="457200" y="3291840"/>
            <a:ext cx="182880" cy="228600"/>
          </a:xfrm>
          <a:prstGeom prst="rect">
            <a:avLst/>
          </a:prstGeom>
          <a:noFill/>
        </p:spPr>
        <p:txBody>
          <a:bodyPr wrap="square" anchor="t">
            <a:spAutoFit/>
          </a:bodyPr>
          <a:lstStyle/>
          <a:p>
            <a:pPr algn="l">
              <a:defRPr sz="1000" b="0">
                <a:solidFill>
                  <a:srgbClr val="3B82F6"/>
                </a:solidFill>
              </a:defRPr>
            </a:pPr>
            <a:r>
              <a:t>•</a:t>
            </a:r>
          </a:p>
        </p:txBody>
      </p:sp>
      <p:sp>
        <p:nvSpPr>
          <p:cNvPr id="13" name="TextBox 12"/>
          <p:cNvSpPr txBox="1"/>
          <p:nvPr/>
        </p:nvSpPr>
        <p:spPr>
          <a:xfrm>
            <a:off x="640080" y="3291840"/>
            <a:ext cx="2286000" cy="365760"/>
          </a:xfrm>
          <a:prstGeom prst="rect">
            <a:avLst/>
          </a:prstGeom>
          <a:noFill/>
        </p:spPr>
        <p:txBody>
          <a:bodyPr wrap="square" anchor="t">
            <a:spAutoFit/>
          </a:bodyPr>
          <a:lstStyle/>
          <a:p>
            <a:pPr algn="l">
              <a:defRPr sz="900" b="0">
                <a:solidFill>
                  <a:srgbClr val="E5E5E5"/>
                </a:solidFill>
              </a:defRPr>
            </a:pPr>
            <a:r>
              <a:t>Pro+: $60/mo (3x model usage)</a:t>
            </a:r>
          </a:p>
        </p:txBody>
      </p:sp>
      <p:sp>
        <p:nvSpPr>
          <p:cNvPr id="14" name="TextBox 13"/>
          <p:cNvSpPr txBox="1"/>
          <p:nvPr/>
        </p:nvSpPr>
        <p:spPr>
          <a:xfrm>
            <a:off x="457200" y="3703320"/>
            <a:ext cx="182880" cy="228600"/>
          </a:xfrm>
          <a:prstGeom prst="rect">
            <a:avLst/>
          </a:prstGeom>
          <a:noFill/>
        </p:spPr>
        <p:txBody>
          <a:bodyPr wrap="square" anchor="t">
            <a:spAutoFit/>
          </a:bodyPr>
          <a:lstStyle/>
          <a:p>
            <a:pPr algn="l">
              <a:defRPr sz="1000" b="0">
                <a:solidFill>
                  <a:srgbClr val="3B82F6"/>
                </a:solidFill>
              </a:defRPr>
            </a:pPr>
            <a:r>
              <a:t>•</a:t>
            </a:r>
          </a:p>
        </p:txBody>
      </p:sp>
      <p:sp>
        <p:nvSpPr>
          <p:cNvPr id="15" name="TextBox 14"/>
          <p:cNvSpPr txBox="1"/>
          <p:nvPr/>
        </p:nvSpPr>
        <p:spPr>
          <a:xfrm>
            <a:off x="640080" y="3703320"/>
            <a:ext cx="2286000" cy="365760"/>
          </a:xfrm>
          <a:prstGeom prst="rect">
            <a:avLst/>
          </a:prstGeom>
          <a:noFill/>
        </p:spPr>
        <p:txBody>
          <a:bodyPr wrap="square" anchor="t">
            <a:spAutoFit/>
          </a:bodyPr>
          <a:lstStyle/>
          <a:p>
            <a:pPr algn="l">
              <a:defRPr sz="900" b="0">
                <a:solidFill>
                  <a:srgbClr val="E5E5E5"/>
                </a:solidFill>
              </a:defRPr>
            </a:pPr>
            <a:r>
              <a:t>Ultra: $200/mo (20x usage)</a:t>
            </a:r>
          </a:p>
        </p:txBody>
      </p:sp>
      <p:sp>
        <p:nvSpPr>
          <p:cNvPr id="16" name="Rounded Rectangle 15"/>
          <p:cNvSpPr/>
          <p:nvPr/>
        </p:nvSpPr>
        <p:spPr>
          <a:xfrm>
            <a:off x="411480" y="4206240"/>
            <a:ext cx="2560320" cy="502920"/>
          </a:xfrm>
          <a:prstGeom prst="roundRect">
            <a:avLst/>
          </a:prstGeom>
          <a:solidFill>
            <a:srgbClr val="12121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297680"/>
            <a:ext cx="2468880" cy="365760"/>
          </a:xfrm>
          <a:prstGeom prst="rect">
            <a:avLst/>
          </a:prstGeom>
          <a:noFill/>
        </p:spPr>
        <p:txBody>
          <a:bodyPr wrap="square" anchor="t">
            <a:spAutoFit/>
          </a:bodyPr>
          <a:lstStyle/>
          <a:p>
            <a:pPr algn="ctr">
              <a:defRPr sz="800" b="0">
                <a:solidFill>
                  <a:srgbClr val="9C9C9C"/>
                </a:solidFill>
              </a:defRPr>
            </a:pPr>
            <a:r>
              <a:t>Revenue scales with AI usage, not just seats</a:t>
            </a:r>
          </a:p>
        </p:txBody>
      </p:sp>
      <p:sp>
        <p:nvSpPr>
          <p:cNvPr id="18" name="Rounded Rectangle 17"/>
          <p:cNvSpPr/>
          <p:nvPr/>
        </p:nvSpPr>
        <p:spPr>
          <a:xfrm>
            <a:off x="3200400" y="1371600"/>
            <a:ext cx="2743200" cy="347472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00400" y="1371600"/>
            <a:ext cx="2743200" cy="6400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t>TEAMS</a:t>
            </a:r>
          </a:p>
        </p:txBody>
      </p:sp>
      <p:sp>
        <p:nvSpPr>
          <p:cNvPr id="20" name="TextBox 19"/>
          <p:cNvSpPr txBox="1"/>
          <p:nvPr/>
        </p:nvSpPr>
        <p:spPr>
          <a:xfrm>
            <a:off x="3291840" y="2057400"/>
            <a:ext cx="2560320" cy="320040"/>
          </a:xfrm>
          <a:prstGeom prst="rect">
            <a:avLst/>
          </a:prstGeom>
          <a:noFill/>
        </p:spPr>
        <p:txBody>
          <a:bodyPr wrap="square" anchor="t">
            <a:spAutoFit/>
          </a:bodyPr>
          <a:lstStyle/>
          <a:p>
            <a:pPr algn="ctr">
              <a:defRPr sz="1100" b="1">
                <a:solidFill>
                  <a:srgbClr val="8B5CF6"/>
                </a:solidFill>
              </a:defRPr>
            </a:pPr>
            <a:r>
              <a:t>Per-Seat + Usage</a:t>
            </a:r>
          </a:p>
        </p:txBody>
      </p:sp>
      <p:sp>
        <p:nvSpPr>
          <p:cNvPr id="21" name="TextBox 20"/>
          <p:cNvSpPr txBox="1"/>
          <p:nvPr/>
        </p:nvSpPr>
        <p:spPr>
          <a:xfrm>
            <a:off x="3337560" y="2468880"/>
            <a:ext cx="182880" cy="228600"/>
          </a:xfrm>
          <a:prstGeom prst="rect">
            <a:avLst/>
          </a:prstGeom>
          <a:noFill/>
        </p:spPr>
        <p:txBody>
          <a:bodyPr wrap="square" anchor="t">
            <a:spAutoFit/>
          </a:bodyPr>
          <a:lstStyle/>
          <a:p>
            <a:pPr algn="l">
              <a:defRPr sz="1000" b="0">
                <a:solidFill>
                  <a:srgbClr val="8B5CF6"/>
                </a:solidFill>
              </a:defRPr>
            </a:pPr>
            <a:r>
              <a:t>•</a:t>
            </a:r>
          </a:p>
        </p:txBody>
      </p:sp>
      <p:sp>
        <p:nvSpPr>
          <p:cNvPr id="22" name="TextBox 21"/>
          <p:cNvSpPr txBox="1"/>
          <p:nvPr/>
        </p:nvSpPr>
        <p:spPr>
          <a:xfrm>
            <a:off x="3520440" y="2468880"/>
            <a:ext cx="2286000" cy="365760"/>
          </a:xfrm>
          <a:prstGeom prst="rect">
            <a:avLst/>
          </a:prstGeom>
          <a:noFill/>
        </p:spPr>
        <p:txBody>
          <a:bodyPr wrap="square" anchor="t">
            <a:spAutoFit/>
          </a:bodyPr>
          <a:lstStyle/>
          <a:p>
            <a:pPr algn="l">
              <a:defRPr sz="900" b="0">
                <a:solidFill>
                  <a:srgbClr val="E5E5E5"/>
                </a:solidFill>
              </a:defRPr>
            </a:pPr>
            <a:r>
              <a:t>$40/user/month</a:t>
            </a:r>
          </a:p>
        </p:txBody>
      </p:sp>
      <p:sp>
        <p:nvSpPr>
          <p:cNvPr id="23" name="TextBox 22"/>
          <p:cNvSpPr txBox="1"/>
          <p:nvPr/>
        </p:nvSpPr>
        <p:spPr>
          <a:xfrm>
            <a:off x="3337560" y="2880360"/>
            <a:ext cx="182880" cy="228600"/>
          </a:xfrm>
          <a:prstGeom prst="rect">
            <a:avLst/>
          </a:prstGeom>
          <a:noFill/>
        </p:spPr>
        <p:txBody>
          <a:bodyPr wrap="square" anchor="t">
            <a:spAutoFit/>
          </a:bodyPr>
          <a:lstStyle/>
          <a:p>
            <a:pPr algn="l">
              <a:defRPr sz="1000" b="0">
                <a:solidFill>
                  <a:srgbClr val="8B5CF6"/>
                </a:solidFill>
              </a:defRPr>
            </a:pPr>
            <a:r>
              <a:t>•</a:t>
            </a:r>
          </a:p>
        </p:txBody>
      </p:sp>
      <p:sp>
        <p:nvSpPr>
          <p:cNvPr id="24" name="TextBox 23"/>
          <p:cNvSpPr txBox="1"/>
          <p:nvPr/>
        </p:nvSpPr>
        <p:spPr>
          <a:xfrm>
            <a:off x="3520440" y="2880360"/>
            <a:ext cx="2286000" cy="365760"/>
          </a:xfrm>
          <a:prstGeom prst="rect">
            <a:avLst/>
          </a:prstGeom>
          <a:noFill/>
        </p:spPr>
        <p:txBody>
          <a:bodyPr wrap="square" anchor="t">
            <a:spAutoFit/>
          </a:bodyPr>
          <a:lstStyle/>
          <a:p>
            <a:pPr algn="l">
              <a:defRPr sz="900" b="0">
                <a:solidFill>
                  <a:srgbClr val="E5E5E5"/>
                </a:solidFill>
              </a:defRPr>
            </a:pPr>
            <a:r>
              <a:t>Monthly usage allocation per seat</a:t>
            </a:r>
          </a:p>
        </p:txBody>
      </p:sp>
      <p:sp>
        <p:nvSpPr>
          <p:cNvPr id="25" name="TextBox 24"/>
          <p:cNvSpPr txBox="1"/>
          <p:nvPr/>
        </p:nvSpPr>
        <p:spPr>
          <a:xfrm>
            <a:off x="3337560" y="3291840"/>
            <a:ext cx="182880" cy="228600"/>
          </a:xfrm>
          <a:prstGeom prst="rect">
            <a:avLst/>
          </a:prstGeom>
          <a:noFill/>
        </p:spPr>
        <p:txBody>
          <a:bodyPr wrap="square" anchor="t">
            <a:spAutoFit/>
          </a:bodyPr>
          <a:lstStyle/>
          <a:p>
            <a:pPr algn="l">
              <a:defRPr sz="1000" b="0">
                <a:solidFill>
                  <a:srgbClr val="8B5CF6"/>
                </a:solidFill>
              </a:defRPr>
            </a:pPr>
            <a:r>
              <a:t>•</a:t>
            </a:r>
          </a:p>
        </p:txBody>
      </p:sp>
      <p:sp>
        <p:nvSpPr>
          <p:cNvPr id="26" name="TextBox 25"/>
          <p:cNvSpPr txBox="1"/>
          <p:nvPr/>
        </p:nvSpPr>
        <p:spPr>
          <a:xfrm>
            <a:off x="3520440" y="3291840"/>
            <a:ext cx="2286000" cy="365760"/>
          </a:xfrm>
          <a:prstGeom prst="rect">
            <a:avLst/>
          </a:prstGeom>
          <a:noFill/>
        </p:spPr>
        <p:txBody>
          <a:bodyPr wrap="square" anchor="t">
            <a:spAutoFit/>
          </a:bodyPr>
          <a:lstStyle/>
          <a:p>
            <a:pPr algn="l">
              <a:defRPr sz="900" b="0">
                <a:solidFill>
                  <a:srgbClr val="E5E5E5"/>
                </a:solidFill>
              </a:defRPr>
            </a:pPr>
            <a:r>
              <a:t>On-demand overage billing</a:t>
            </a:r>
          </a:p>
        </p:txBody>
      </p:sp>
      <p:sp>
        <p:nvSpPr>
          <p:cNvPr id="27" name="TextBox 26"/>
          <p:cNvSpPr txBox="1"/>
          <p:nvPr/>
        </p:nvSpPr>
        <p:spPr>
          <a:xfrm>
            <a:off x="3337560" y="3703320"/>
            <a:ext cx="182880" cy="228600"/>
          </a:xfrm>
          <a:prstGeom prst="rect">
            <a:avLst/>
          </a:prstGeom>
          <a:noFill/>
        </p:spPr>
        <p:txBody>
          <a:bodyPr wrap="square" anchor="t">
            <a:spAutoFit/>
          </a:bodyPr>
          <a:lstStyle/>
          <a:p>
            <a:pPr algn="l">
              <a:defRPr sz="1000" b="0">
                <a:solidFill>
                  <a:srgbClr val="8B5CF6"/>
                </a:solidFill>
              </a:defRPr>
            </a:pPr>
            <a:r>
              <a:t>•</a:t>
            </a:r>
          </a:p>
        </p:txBody>
      </p:sp>
      <p:sp>
        <p:nvSpPr>
          <p:cNvPr id="28" name="TextBox 27"/>
          <p:cNvSpPr txBox="1"/>
          <p:nvPr/>
        </p:nvSpPr>
        <p:spPr>
          <a:xfrm>
            <a:off x="3520440" y="3703320"/>
            <a:ext cx="2286000" cy="365760"/>
          </a:xfrm>
          <a:prstGeom prst="rect">
            <a:avLst/>
          </a:prstGeom>
          <a:noFill/>
        </p:spPr>
        <p:txBody>
          <a:bodyPr wrap="square" anchor="t">
            <a:spAutoFit/>
          </a:bodyPr>
          <a:lstStyle/>
          <a:p>
            <a:pPr algn="l">
              <a:defRPr sz="900" b="0">
                <a:solidFill>
                  <a:srgbClr val="E5E5E5"/>
                </a:solidFill>
              </a:defRPr>
            </a:pPr>
            <a:r>
              <a:rPr dirty="0"/>
              <a:t>Shared resources &amp; analytics</a:t>
            </a:r>
          </a:p>
        </p:txBody>
      </p:sp>
      <p:sp>
        <p:nvSpPr>
          <p:cNvPr id="29" name="Rounded Rectangle 28"/>
          <p:cNvSpPr/>
          <p:nvPr/>
        </p:nvSpPr>
        <p:spPr>
          <a:xfrm>
            <a:off x="3291840" y="4206240"/>
            <a:ext cx="2560320" cy="502920"/>
          </a:xfrm>
          <a:prstGeom prst="roundRect">
            <a:avLst/>
          </a:prstGeom>
          <a:solidFill>
            <a:srgbClr val="12121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37560" y="4297680"/>
            <a:ext cx="2468880" cy="365760"/>
          </a:xfrm>
          <a:prstGeom prst="rect">
            <a:avLst/>
          </a:prstGeom>
          <a:noFill/>
        </p:spPr>
        <p:txBody>
          <a:bodyPr wrap="square" anchor="t">
            <a:spAutoFit/>
          </a:bodyPr>
          <a:lstStyle/>
          <a:p>
            <a:pPr algn="ctr">
              <a:defRPr sz="800" b="0">
                <a:solidFill>
                  <a:srgbClr val="9C9C9C"/>
                </a:solidFill>
              </a:defRPr>
            </a:pPr>
            <a:r>
              <a:t>Predictable base + usage upside</a:t>
            </a:r>
          </a:p>
        </p:txBody>
      </p:sp>
      <p:sp>
        <p:nvSpPr>
          <p:cNvPr id="31" name="Rounded Rectangle 30"/>
          <p:cNvSpPr/>
          <p:nvPr/>
        </p:nvSpPr>
        <p:spPr>
          <a:xfrm>
            <a:off x="6080760" y="1371600"/>
            <a:ext cx="2743200" cy="347472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080760" y="1371600"/>
            <a:ext cx="2743200" cy="64008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t>ENTERPRISE</a:t>
            </a:r>
          </a:p>
        </p:txBody>
      </p:sp>
      <p:sp>
        <p:nvSpPr>
          <p:cNvPr id="33" name="TextBox 32"/>
          <p:cNvSpPr txBox="1"/>
          <p:nvPr/>
        </p:nvSpPr>
        <p:spPr>
          <a:xfrm>
            <a:off x="6172200" y="2057400"/>
            <a:ext cx="2560320" cy="320040"/>
          </a:xfrm>
          <a:prstGeom prst="rect">
            <a:avLst/>
          </a:prstGeom>
          <a:noFill/>
        </p:spPr>
        <p:txBody>
          <a:bodyPr wrap="square" anchor="t">
            <a:spAutoFit/>
          </a:bodyPr>
          <a:lstStyle/>
          <a:p>
            <a:pPr algn="ctr">
              <a:defRPr sz="1100" b="1">
                <a:solidFill>
                  <a:srgbClr val="22C55E"/>
                </a:solidFill>
              </a:defRPr>
            </a:pPr>
            <a:r>
              <a:t>Custom Contracts</a:t>
            </a:r>
          </a:p>
        </p:txBody>
      </p:sp>
      <p:sp>
        <p:nvSpPr>
          <p:cNvPr id="34" name="TextBox 33"/>
          <p:cNvSpPr txBox="1"/>
          <p:nvPr/>
        </p:nvSpPr>
        <p:spPr>
          <a:xfrm>
            <a:off x="6217920" y="2468880"/>
            <a:ext cx="182880" cy="228600"/>
          </a:xfrm>
          <a:prstGeom prst="rect">
            <a:avLst/>
          </a:prstGeom>
          <a:noFill/>
        </p:spPr>
        <p:txBody>
          <a:bodyPr wrap="square" anchor="t">
            <a:spAutoFit/>
          </a:bodyPr>
          <a:lstStyle/>
          <a:p>
            <a:pPr algn="l">
              <a:defRPr sz="1000" b="0">
                <a:solidFill>
                  <a:srgbClr val="22C55E"/>
                </a:solidFill>
              </a:defRPr>
            </a:pPr>
            <a:r>
              <a:t>•</a:t>
            </a:r>
          </a:p>
        </p:txBody>
      </p:sp>
      <p:sp>
        <p:nvSpPr>
          <p:cNvPr id="35" name="TextBox 34"/>
          <p:cNvSpPr txBox="1"/>
          <p:nvPr/>
        </p:nvSpPr>
        <p:spPr>
          <a:xfrm>
            <a:off x="6400800" y="2468880"/>
            <a:ext cx="2286000" cy="365760"/>
          </a:xfrm>
          <a:prstGeom prst="rect">
            <a:avLst/>
          </a:prstGeom>
          <a:noFill/>
        </p:spPr>
        <p:txBody>
          <a:bodyPr wrap="square" anchor="t">
            <a:spAutoFit/>
          </a:bodyPr>
          <a:lstStyle/>
          <a:p>
            <a:pPr algn="l">
              <a:defRPr sz="900" b="0">
                <a:solidFill>
                  <a:srgbClr val="E5E5E5"/>
                </a:solidFill>
              </a:defRPr>
            </a:pPr>
            <a:r>
              <a:t>Custom pricing &amp; terms</a:t>
            </a:r>
          </a:p>
        </p:txBody>
      </p:sp>
      <p:sp>
        <p:nvSpPr>
          <p:cNvPr id="36" name="TextBox 35"/>
          <p:cNvSpPr txBox="1"/>
          <p:nvPr/>
        </p:nvSpPr>
        <p:spPr>
          <a:xfrm>
            <a:off x="6217920" y="2880360"/>
            <a:ext cx="182880" cy="228600"/>
          </a:xfrm>
          <a:prstGeom prst="rect">
            <a:avLst/>
          </a:prstGeom>
          <a:noFill/>
        </p:spPr>
        <p:txBody>
          <a:bodyPr wrap="square" anchor="t">
            <a:spAutoFit/>
          </a:bodyPr>
          <a:lstStyle/>
          <a:p>
            <a:pPr algn="l">
              <a:defRPr sz="1000" b="0">
                <a:solidFill>
                  <a:srgbClr val="22C55E"/>
                </a:solidFill>
              </a:defRPr>
            </a:pPr>
            <a:r>
              <a:t>•</a:t>
            </a:r>
          </a:p>
        </p:txBody>
      </p:sp>
      <p:sp>
        <p:nvSpPr>
          <p:cNvPr id="37" name="TextBox 36"/>
          <p:cNvSpPr txBox="1"/>
          <p:nvPr/>
        </p:nvSpPr>
        <p:spPr>
          <a:xfrm>
            <a:off x="6400800" y="2880360"/>
            <a:ext cx="2286000" cy="365760"/>
          </a:xfrm>
          <a:prstGeom prst="rect">
            <a:avLst/>
          </a:prstGeom>
          <a:noFill/>
        </p:spPr>
        <p:txBody>
          <a:bodyPr wrap="square" anchor="t">
            <a:spAutoFit/>
          </a:bodyPr>
          <a:lstStyle/>
          <a:p>
            <a:pPr algn="l">
              <a:defRPr sz="900" b="0">
                <a:solidFill>
                  <a:srgbClr val="E5E5E5"/>
                </a:solidFill>
              </a:defRPr>
            </a:pPr>
            <a:r>
              <a:t>Pooled org-wide usage</a:t>
            </a:r>
          </a:p>
        </p:txBody>
      </p:sp>
      <p:sp>
        <p:nvSpPr>
          <p:cNvPr id="38" name="TextBox 37"/>
          <p:cNvSpPr txBox="1"/>
          <p:nvPr/>
        </p:nvSpPr>
        <p:spPr>
          <a:xfrm>
            <a:off x="6217920" y="3291840"/>
            <a:ext cx="182880" cy="228600"/>
          </a:xfrm>
          <a:prstGeom prst="rect">
            <a:avLst/>
          </a:prstGeom>
          <a:noFill/>
        </p:spPr>
        <p:txBody>
          <a:bodyPr wrap="square" anchor="t">
            <a:spAutoFit/>
          </a:bodyPr>
          <a:lstStyle/>
          <a:p>
            <a:pPr algn="l">
              <a:defRPr sz="1000" b="0">
                <a:solidFill>
                  <a:srgbClr val="22C55E"/>
                </a:solidFill>
              </a:defRPr>
            </a:pPr>
            <a:r>
              <a:t>•</a:t>
            </a:r>
          </a:p>
        </p:txBody>
      </p:sp>
      <p:sp>
        <p:nvSpPr>
          <p:cNvPr id="39" name="TextBox 38"/>
          <p:cNvSpPr txBox="1"/>
          <p:nvPr/>
        </p:nvSpPr>
        <p:spPr>
          <a:xfrm>
            <a:off x="6400800" y="3291840"/>
            <a:ext cx="2286000" cy="365760"/>
          </a:xfrm>
          <a:prstGeom prst="rect">
            <a:avLst/>
          </a:prstGeom>
          <a:noFill/>
        </p:spPr>
        <p:txBody>
          <a:bodyPr wrap="square" anchor="t">
            <a:spAutoFit/>
          </a:bodyPr>
          <a:lstStyle/>
          <a:p>
            <a:pPr algn="l">
              <a:defRPr sz="900" b="0">
                <a:solidFill>
                  <a:srgbClr val="E5E5E5"/>
                </a:solidFill>
              </a:defRPr>
            </a:pPr>
            <a:r>
              <a:t>Invoice/PO billing</a:t>
            </a:r>
          </a:p>
        </p:txBody>
      </p:sp>
      <p:sp>
        <p:nvSpPr>
          <p:cNvPr id="40" name="TextBox 39"/>
          <p:cNvSpPr txBox="1"/>
          <p:nvPr/>
        </p:nvSpPr>
        <p:spPr>
          <a:xfrm>
            <a:off x="6217920" y="3703320"/>
            <a:ext cx="182880" cy="228600"/>
          </a:xfrm>
          <a:prstGeom prst="rect">
            <a:avLst/>
          </a:prstGeom>
          <a:noFill/>
        </p:spPr>
        <p:txBody>
          <a:bodyPr wrap="square" anchor="t">
            <a:spAutoFit/>
          </a:bodyPr>
          <a:lstStyle/>
          <a:p>
            <a:pPr algn="l">
              <a:defRPr sz="1000" b="0">
                <a:solidFill>
                  <a:srgbClr val="22C55E"/>
                </a:solidFill>
              </a:defRPr>
            </a:pPr>
            <a:r>
              <a:t>•</a:t>
            </a:r>
          </a:p>
        </p:txBody>
      </p:sp>
      <p:sp>
        <p:nvSpPr>
          <p:cNvPr id="41" name="TextBox 40"/>
          <p:cNvSpPr txBox="1"/>
          <p:nvPr/>
        </p:nvSpPr>
        <p:spPr>
          <a:xfrm>
            <a:off x="6400800" y="3703320"/>
            <a:ext cx="2286000" cy="365760"/>
          </a:xfrm>
          <a:prstGeom prst="rect">
            <a:avLst/>
          </a:prstGeom>
          <a:noFill/>
        </p:spPr>
        <p:txBody>
          <a:bodyPr wrap="square" anchor="t">
            <a:spAutoFit/>
          </a:bodyPr>
          <a:lstStyle/>
          <a:p>
            <a:pPr algn="l">
              <a:defRPr sz="900" b="0">
                <a:solidFill>
                  <a:srgbClr val="E5E5E5"/>
                </a:solidFill>
              </a:defRPr>
            </a:pPr>
            <a:r>
              <a:t>Premium support &amp; SLAs</a:t>
            </a:r>
          </a:p>
        </p:txBody>
      </p:sp>
      <p:sp>
        <p:nvSpPr>
          <p:cNvPr id="42" name="Rounded Rectangle 41"/>
          <p:cNvSpPr/>
          <p:nvPr/>
        </p:nvSpPr>
        <p:spPr>
          <a:xfrm>
            <a:off x="6172200" y="4206240"/>
            <a:ext cx="2560320" cy="502920"/>
          </a:xfrm>
          <a:prstGeom prst="roundRect">
            <a:avLst/>
          </a:prstGeom>
          <a:solidFill>
            <a:srgbClr val="121212"/>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17920" y="4297680"/>
            <a:ext cx="2468880" cy="365760"/>
          </a:xfrm>
          <a:prstGeom prst="rect">
            <a:avLst/>
          </a:prstGeom>
          <a:noFill/>
        </p:spPr>
        <p:txBody>
          <a:bodyPr wrap="square" anchor="t">
            <a:spAutoFit/>
          </a:bodyPr>
          <a:lstStyle/>
          <a:p>
            <a:pPr algn="ctr">
              <a:defRPr sz="800" b="0">
                <a:solidFill>
                  <a:srgbClr val="9C9C9C"/>
                </a:solidFill>
              </a:defRPr>
            </a:pPr>
            <a:r>
              <a:t>High-value accounts with sticky contracts</a:t>
            </a:r>
          </a:p>
        </p:txBody>
      </p:sp>
      <p:sp>
        <p:nvSpPr>
          <p:cNvPr id="44" name="Rounded Rectangle 43"/>
          <p:cNvSpPr/>
          <p:nvPr/>
        </p:nvSpPr>
        <p:spPr>
          <a:xfrm>
            <a:off x="320040" y="5029200"/>
            <a:ext cx="8503920" cy="82296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7200" y="5120640"/>
            <a:ext cx="274320" cy="274320"/>
          </a:xfrm>
          <a:prstGeom prst="rect">
            <a:avLst/>
          </a:prstGeom>
          <a:noFill/>
        </p:spPr>
        <p:txBody>
          <a:bodyPr wrap="square" anchor="t">
            <a:spAutoFit/>
          </a:bodyPr>
          <a:lstStyle/>
          <a:p>
            <a:pPr algn="ctr">
              <a:defRPr sz="1400" b="0">
                <a:solidFill>
                  <a:srgbClr val="F59E0B"/>
                </a:solidFill>
              </a:defRPr>
            </a:pPr>
            <a:r>
              <a:t>💡</a:t>
            </a:r>
          </a:p>
        </p:txBody>
      </p:sp>
      <p:sp>
        <p:nvSpPr>
          <p:cNvPr id="46" name="TextBox 45"/>
          <p:cNvSpPr txBox="1"/>
          <p:nvPr/>
        </p:nvSpPr>
        <p:spPr>
          <a:xfrm>
            <a:off x="777240" y="5120640"/>
            <a:ext cx="7863840" cy="640080"/>
          </a:xfrm>
          <a:prstGeom prst="rect">
            <a:avLst/>
          </a:prstGeom>
          <a:noFill/>
        </p:spPr>
        <p:txBody>
          <a:bodyPr wrap="square" anchor="t">
            <a:spAutoFit/>
          </a:bodyPr>
          <a:lstStyle/>
          <a:p>
            <a:pPr algn="l">
              <a:defRPr sz="1000" b="0">
                <a:solidFill>
                  <a:srgbClr val="E5E5E5"/>
                </a:solidFill>
              </a:defRPr>
            </a:pPr>
            <a:r>
              <a:t>Key Insight: Monetization is tied to AI model usage (credits consumed) rather than just seat count. This aligns revenue with the value delivered—more AI usage = more revenue.</a:t>
            </a:r>
          </a:p>
        </p:txBody>
      </p:sp>
      <p:sp>
        <p:nvSpPr>
          <p:cNvPr id="47" name="TextBox 46"/>
          <p:cNvSpPr txBox="1"/>
          <p:nvPr/>
        </p:nvSpPr>
        <p:spPr>
          <a:xfrm>
            <a:off x="274320" y="6537960"/>
            <a:ext cx="8595360" cy="274320"/>
          </a:xfrm>
          <a:prstGeom prst="rect">
            <a:avLst/>
          </a:prstGeom>
          <a:noFill/>
        </p:spPr>
        <p:txBody>
          <a:bodyPr wrap="square" anchor="t">
            <a:spAutoFit/>
          </a:bodyPr>
          <a:lstStyle/>
          <a:p>
            <a:pPr algn="l">
              <a:defRPr sz="700" b="0">
                <a:solidFill>
                  <a:srgbClr val="525252"/>
                </a:solidFill>
              </a:defRPr>
            </a:pPr>
            <a:r>
              <a:t>Sources: cursor.com/pricing | cursor.com/blog/june-2025-pricing | cursor.com/docs/account/teams/pricing</a:t>
            </a:r>
          </a:p>
        </p:txBody>
      </p:sp>
      <p:sp>
        <p:nvSpPr>
          <p:cNvPr id="48" name="TextBox 47"/>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nchor="t">
            <a:spAutoFit/>
          </a:bodyPr>
          <a:lstStyle/>
          <a:p>
            <a:pPr algn="l">
              <a:defRPr sz="3400" b="1">
                <a:solidFill>
                  <a:srgbClr val="FFFFFF"/>
                </a:solidFill>
              </a:defRPr>
            </a:pPr>
            <a:r>
              <a:t>Competition</a:t>
            </a:r>
          </a:p>
        </p:txBody>
      </p:sp>
      <p:sp>
        <p:nvSpPr>
          <p:cNvPr id="3" name="TextBox 2"/>
          <p:cNvSpPr txBox="1"/>
          <p:nvPr/>
        </p:nvSpPr>
        <p:spPr>
          <a:xfrm>
            <a:off x="457200" y="777240"/>
            <a:ext cx="8229600" cy="365760"/>
          </a:xfrm>
          <a:prstGeom prst="rect">
            <a:avLst/>
          </a:prstGeom>
          <a:noFill/>
        </p:spPr>
        <p:txBody>
          <a:bodyPr wrap="square" anchor="t">
            <a:spAutoFit/>
          </a:bodyPr>
          <a:lstStyle/>
          <a:p>
            <a:pPr algn="l">
              <a:defRPr sz="1400" b="0">
                <a:solidFill>
                  <a:srgbClr val="9C9C9C"/>
                </a:solidFill>
              </a:defRPr>
            </a:pPr>
            <a:r>
              <a:t>AI and Non-AI Alternatives</a:t>
            </a:r>
          </a:p>
        </p:txBody>
      </p:sp>
      <p:sp>
        <p:nvSpPr>
          <p:cNvPr id="4" name="Rectangle 3"/>
          <p:cNvSpPr/>
          <p:nvPr/>
        </p:nvSpPr>
        <p:spPr>
          <a:xfrm>
            <a:off x="457200" y="1143000"/>
            <a:ext cx="1828800" cy="381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1371600"/>
            <a:ext cx="4114800" cy="219456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 y="1371600"/>
            <a:ext cx="4114800" cy="5029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AI Coding Tools</a:t>
            </a:r>
          </a:p>
        </p:txBody>
      </p:sp>
      <p:sp>
        <p:nvSpPr>
          <p:cNvPr id="7" name="TextBox 6"/>
          <p:cNvSpPr txBox="1"/>
          <p:nvPr/>
        </p:nvSpPr>
        <p:spPr>
          <a:xfrm>
            <a:off x="457200" y="1965960"/>
            <a:ext cx="1280160" cy="320040"/>
          </a:xfrm>
          <a:prstGeom prst="rect">
            <a:avLst/>
          </a:prstGeom>
          <a:noFill/>
        </p:spPr>
        <p:txBody>
          <a:bodyPr wrap="square" anchor="t">
            <a:spAutoFit/>
          </a:bodyPr>
          <a:lstStyle/>
          <a:p>
            <a:pPr algn="l">
              <a:defRPr sz="1000" b="1">
                <a:solidFill>
                  <a:srgbClr val="8B5CF6"/>
                </a:solidFill>
              </a:defRPr>
            </a:pPr>
            <a:r>
              <a:t>GitHub Copilot</a:t>
            </a:r>
          </a:p>
        </p:txBody>
      </p:sp>
      <p:sp>
        <p:nvSpPr>
          <p:cNvPr id="8" name="TextBox 7"/>
          <p:cNvSpPr txBox="1"/>
          <p:nvPr/>
        </p:nvSpPr>
        <p:spPr>
          <a:xfrm>
            <a:off x="1737360" y="1965960"/>
            <a:ext cx="2560320" cy="320040"/>
          </a:xfrm>
          <a:prstGeom prst="rect">
            <a:avLst/>
          </a:prstGeom>
          <a:noFill/>
        </p:spPr>
        <p:txBody>
          <a:bodyPr wrap="square" anchor="t">
            <a:spAutoFit/>
          </a:bodyPr>
          <a:lstStyle/>
          <a:p>
            <a:pPr algn="l">
              <a:defRPr sz="800" b="0">
                <a:solidFill>
                  <a:srgbClr val="9C9C9C"/>
                </a:solidFill>
              </a:defRPr>
            </a:pPr>
            <a:r>
              <a:t>Code suggestions in VS Code/IDEs; single-model (OpenAI)</a:t>
            </a:r>
          </a:p>
        </p:txBody>
      </p:sp>
      <p:sp>
        <p:nvSpPr>
          <p:cNvPr id="9" name="TextBox 8"/>
          <p:cNvSpPr txBox="1"/>
          <p:nvPr/>
        </p:nvSpPr>
        <p:spPr>
          <a:xfrm>
            <a:off x="457200" y="2350008"/>
            <a:ext cx="1280160" cy="320040"/>
          </a:xfrm>
          <a:prstGeom prst="rect">
            <a:avLst/>
          </a:prstGeom>
          <a:noFill/>
        </p:spPr>
        <p:txBody>
          <a:bodyPr wrap="square" anchor="t">
            <a:spAutoFit/>
          </a:bodyPr>
          <a:lstStyle/>
          <a:p>
            <a:pPr algn="l">
              <a:defRPr sz="1000" b="1">
                <a:solidFill>
                  <a:srgbClr val="8B5CF6"/>
                </a:solidFill>
              </a:defRPr>
            </a:pPr>
            <a:r>
              <a:t>Replit Ghostwriter</a:t>
            </a:r>
          </a:p>
        </p:txBody>
      </p:sp>
      <p:sp>
        <p:nvSpPr>
          <p:cNvPr id="10" name="TextBox 9"/>
          <p:cNvSpPr txBox="1"/>
          <p:nvPr/>
        </p:nvSpPr>
        <p:spPr>
          <a:xfrm>
            <a:off x="1737360" y="2350008"/>
            <a:ext cx="2560320" cy="320040"/>
          </a:xfrm>
          <a:prstGeom prst="rect">
            <a:avLst/>
          </a:prstGeom>
          <a:noFill/>
        </p:spPr>
        <p:txBody>
          <a:bodyPr wrap="square" anchor="t">
            <a:spAutoFit/>
          </a:bodyPr>
          <a:lstStyle/>
          <a:p>
            <a:pPr algn="l">
              <a:defRPr sz="800" b="0">
                <a:solidFill>
                  <a:srgbClr val="9C9C9C"/>
                </a:solidFill>
              </a:defRPr>
            </a:pPr>
            <a:r>
              <a:t>AI in cloud IDE; focused on beginners/prototyping</a:t>
            </a:r>
          </a:p>
        </p:txBody>
      </p:sp>
      <p:sp>
        <p:nvSpPr>
          <p:cNvPr id="11" name="TextBox 10"/>
          <p:cNvSpPr txBox="1"/>
          <p:nvPr/>
        </p:nvSpPr>
        <p:spPr>
          <a:xfrm>
            <a:off x="457200" y="2734056"/>
            <a:ext cx="1280160" cy="320040"/>
          </a:xfrm>
          <a:prstGeom prst="rect">
            <a:avLst/>
          </a:prstGeom>
          <a:noFill/>
        </p:spPr>
        <p:txBody>
          <a:bodyPr wrap="square" anchor="t">
            <a:spAutoFit/>
          </a:bodyPr>
          <a:lstStyle/>
          <a:p>
            <a:pPr algn="l">
              <a:defRPr sz="1000" b="1">
                <a:solidFill>
                  <a:srgbClr val="8B5CF6"/>
                </a:solidFill>
              </a:defRPr>
            </a:pPr>
            <a:r>
              <a:t>Codeium</a:t>
            </a:r>
          </a:p>
        </p:txBody>
      </p:sp>
      <p:sp>
        <p:nvSpPr>
          <p:cNvPr id="12" name="TextBox 11"/>
          <p:cNvSpPr txBox="1"/>
          <p:nvPr/>
        </p:nvSpPr>
        <p:spPr>
          <a:xfrm>
            <a:off x="1737360" y="2734056"/>
            <a:ext cx="2560320" cy="320040"/>
          </a:xfrm>
          <a:prstGeom prst="rect">
            <a:avLst/>
          </a:prstGeom>
          <a:noFill/>
        </p:spPr>
        <p:txBody>
          <a:bodyPr wrap="square" anchor="t">
            <a:spAutoFit/>
          </a:bodyPr>
          <a:lstStyle/>
          <a:p>
            <a:pPr algn="l">
              <a:defRPr sz="800" b="0">
                <a:solidFill>
                  <a:srgbClr val="9C9C9C"/>
                </a:solidFill>
              </a:defRPr>
            </a:pPr>
            <a:r>
              <a:t>Free AI autocomplete; limited agent capabilities</a:t>
            </a:r>
          </a:p>
        </p:txBody>
      </p:sp>
      <p:sp>
        <p:nvSpPr>
          <p:cNvPr id="13" name="TextBox 12"/>
          <p:cNvSpPr txBox="1"/>
          <p:nvPr/>
        </p:nvSpPr>
        <p:spPr>
          <a:xfrm>
            <a:off x="457200" y="3118104"/>
            <a:ext cx="1280160" cy="320040"/>
          </a:xfrm>
          <a:prstGeom prst="rect">
            <a:avLst/>
          </a:prstGeom>
          <a:noFill/>
        </p:spPr>
        <p:txBody>
          <a:bodyPr wrap="square" anchor="t">
            <a:spAutoFit/>
          </a:bodyPr>
          <a:lstStyle/>
          <a:p>
            <a:pPr algn="l">
              <a:defRPr sz="1000" b="1">
                <a:solidFill>
                  <a:srgbClr val="8B5CF6"/>
                </a:solidFill>
              </a:defRPr>
            </a:pPr>
            <a:r>
              <a:t>Amazon CodeWhisperer</a:t>
            </a:r>
          </a:p>
        </p:txBody>
      </p:sp>
      <p:sp>
        <p:nvSpPr>
          <p:cNvPr id="14" name="TextBox 13"/>
          <p:cNvSpPr txBox="1"/>
          <p:nvPr/>
        </p:nvSpPr>
        <p:spPr>
          <a:xfrm>
            <a:off x="1737360" y="3118104"/>
            <a:ext cx="2560320" cy="320040"/>
          </a:xfrm>
          <a:prstGeom prst="rect">
            <a:avLst/>
          </a:prstGeom>
          <a:noFill/>
        </p:spPr>
        <p:txBody>
          <a:bodyPr wrap="square" anchor="t">
            <a:spAutoFit/>
          </a:bodyPr>
          <a:lstStyle/>
          <a:p>
            <a:pPr algn="l">
              <a:defRPr sz="800" b="0">
                <a:solidFill>
                  <a:srgbClr val="9C9C9C"/>
                </a:solidFill>
              </a:defRPr>
            </a:pPr>
            <a:r>
              <a:t>AWS-integrated; enterprise security focus</a:t>
            </a:r>
          </a:p>
        </p:txBody>
      </p:sp>
      <p:sp>
        <p:nvSpPr>
          <p:cNvPr id="15" name="Rounded Rectangle 14"/>
          <p:cNvSpPr/>
          <p:nvPr/>
        </p:nvSpPr>
        <p:spPr>
          <a:xfrm>
            <a:off x="4709160" y="1371600"/>
            <a:ext cx="4114800" cy="2194560"/>
          </a:xfrm>
          <a:prstGeom prst="roundRect">
            <a:avLst/>
          </a:prstGeom>
          <a:solidFill>
            <a:srgbClr val="262626"/>
          </a:solidFill>
          <a:ln w="2540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709160" y="1371600"/>
            <a:ext cx="4114800" cy="502920"/>
          </a:xfrm>
          <a:prstGeom prst="roundRect">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Traditional Tools</a:t>
            </a:r>
          </a:p>
        </p:txBody>
      </p:sp>
      <p:sp>
        <p:nvSpPr>
          <p:cNvPr id="17" name="TextBox 16"/>
          <p:cNvSpPr txBox="1"/>
          <p:nvPr/>
        </p:nvSpPr>
        <p:spPr>
          <a:xfrm>
            <a:off x="4846320" y="1965960"/>
            <a:ext cx="1463040" cy="320040"/>
          </a:xfrm>
          <a:prstGeom prst="rect">
            <a:avLst/>
          </a:prstGeom>
          <a:noFill/>
        </p:spPr>
        <p:txBody>
          <a:bodyPr wrap="square" anchor="t">
            <a:spAutoFit/>
          </a:bodyPr>
          <a:lstStyle/>
          <a:p>
            <a:pPr algn="l">
              <a:defRPr sz="1000" b="1">
                <a:solidFill>
                  <a:srgbClr val="9C9C9C"/>
                </a:solidFill>
              </a:defRPr>
            </a:pPr>
            <a:r>
              <a:t>VS Code (no AI)</a:t>
            </a:r>
          </a:p>
        </p:txBody>
      </p:sp>
      <p:sp>
        <p:nvSpPr>
          <p:cNvPr id="18" name="TextBox 17"/>
          <p:cNvSpPr txBox="1"/>
          <p:nvPr/>
        </p:nvSpPr>
        <p:spPr>
          <a:xfrm>
            <a:off x="6309360" y="1965960"/>
            <a:ext cx="2377440" cy="320040"/>
          </a:xfrm>
          <a:prstGeom prst="rect">
            <a:avLst/>
          </a:prstGeom>
          <a:noFill/>
        </p:spPr>
        <p:txBody>
          <a:bodyPr wrap="square" anchor="t">
            <a:spAutoFit/>
          </a:bodyPr>
          <a:lstStyle/>
          <a:p>
            <a:pPr algn="l">
              <a:defRPr sz="800" b="0">
                <a:solidFill>
                  <a:srgbClr val="9C9C9C"/>
                </a:solidFill>
              </a:defRPr>
            </a:pPr>
            <a:r>
              <a:t>Powerful editor; requires manual coding or plugins</a:t>
            </a:r>
          </a:p>
        </p:txBody>
      </p:sp>
      <p:sp>
        <p:nvSpPr>
          <p:cNvPr id="19" name="TextBox 18"/>
          <p:cNvSpPr txBox="1"/>
          <p:nvPr/>
        </p:nvSpPr>
        <p:spPr>
          <a:xfrm>
            <a:off x="4846320" y="2350008"/>
            <a:ext cx="1463040" cy="320040"/>
          </a:xfrm>
          <a:prstGeom prst="rect">
            <a:avLst/>
          </a:prstGeom>
          <a:noFill/>
        </p:spPr>
        <p:txBody>
          <a:bodyPr wrap="square" anchor="t">
            <a:spAutoFit/>
          </a:bodyPr>
          <a:lstStyle/>
          <a:p>
            <a:pPr algn="l">
              <a:defRPr sz="1000" b="1">
                <a:solidFill>
                  <a:srgbClr val="9C9C9C"/>
                </a:solidFill>
              </a:defRPr>
            </a:pPr>
            <a:r>
              <a:t>JetBrains IDEs</a:t>
            </a:r>
          </a:p>
        </p:txBody>
      </p:sp>
      <p:sp>
        <p:nvSpPr>
          <p:cNvPr id="20" name="TextBox 19"/>
          <p:cNvSpPr txBox="1"/>
          <p:nvPr/>
        </p:nvSpPr>
        <p:spPr>
          <a:xfrm>
            <a:off x="6309360" y="2350008"/>
            <a:ext cx="2377440" cy="320040"/>
          </a:xfrm>
          <a:prstGeom prst="rect">
            <a:avLst/>
          </a:prstGeom>
          <a:noFill/>
        </p:spPr>
        <p:txBody>
          <a:bodyPr wrap="square" anchor="t">
            <a:spAutoFit/>
          </a:bodyPr>
          <a:lstStyle/>
          <a:p>
            <a:pPr algn="l">
              <a:defRPr sz="800" b="0">
                <a:solidFill>
                  <a:srgbClr val="9C9C9C"/>
                </a:solidFill>
              </a:defRPr>
            </a:pPr>
            <a:r>
              <a:t>Feature-rich; AI add-ons available separately</a:t>
            </a:r>
          </a:p>
        </p:txBody>
      </p:sp>
      <p:sp>
        <p:nvSpPr>
          <p:cNvPr id="21" name="TextBox 20"/>
          <p:cNvSpPr txBox="1"/>
          <p:nvPr/>
        </p:nvSpPr>
        <p:spPr>
          <a:xfrm>
            <a:off x="4846320" y="2734056"/>
            <a:ext cx="1463040" cy="320040"/>
          </a:xfrm>
          <a:prstGeom prst="rect">
            <a:avLst/>
          </a:prstGeom>
          <a:noFill/>
        </p:spPr>
        <p:txBody>
          <a:bodyPr wrap="square" anchor="t">
            <a:spAutoFit/>
          </a:bodyPr>
          <a:lstStyle/>
          <a:p>
            <a:pPr algn="l">
              <a:defRPr sz="1000" b="1">
                <a:solidFill>
                  <a:srgbClr val="9C9C9C"/>
                </a:solidFill>
              </a:defRPr>
            </a:pPr>
            <a:r>
              <a:t>Stack Overflow</a:t>
            </a:r>
          </a:p>
        </p:txBody>
      </p:sp>
      <p:sp>
        <p:nvSpPr>
          <p:cNvPr id="22" name="TextBox 21"/>
          <p:cNvSpPr txBox="1"/>
          <p:nvPr/>
        </p:nvSpPr>
        <p:spPr>
          <a:xfrm>
            <a:off x="6309360" y="2734056"/>
            <a:ext cx="2377440" cy="320040"/>
          </a:xfrm>
          <a:prstGeom prst="rect">
            <a:avLst/>
          </a:prstGeom>
          <a:noFill/>
        </p:spPr>
        <p:txBody>
          <a:bodyPr wrap="square" anchor="t">
            <a:spAutoFit/>
          </a:bodyPr>
          <a:lstStyle/>
          <a:p>
            <a:pPr algn="l">
              <a:defRPr sz="800" b="0">
                <a:solidFill>
                  <a:srgbClr val="9C9C9C"/>
                </a:solidFill>
              </a:defRPr>
            </a:pPr>
            <a:r>
              <a:t>Manual search; context switching, slower iteration</a:t>
            </a:r>
          </a:p>
        </p:txBody>
      </p:sp>
      <p:sp>
        <p:nvSpPr>
          <p:cNvPr id="23" name="TextBox 22"/>
          <p:cNvSpPr txBox="1"/>
          <p:nvPr/>
        </p:nvSpPr>
        <p:spPr>
          <a:xfrm>
            <a:off x="4846320" y="3118104"/>
            <a:ext cx="1463040" cy="320040"/>
          </a:xfrm>
          <a:prstGeom prst="rect">
            <a:avLst/>
          </a:prstGeom>
          <a:noFill/>
        </p:spPr>
        <p:txBody>
          <a:bodyPr wrap="square" anchor="t">
            <a:spAutoFit/>
          </a:bodyPr>
          <a:lstStyle/>
          <a:p>
            <a:pPr algn="l">
              <a:defRPr sz="1000" b="1">
                <a:solidFill>
                  <a:srgbClr val="9C9C9C"/>
                </a:solidFill>
              </a:defRPr>
            </a:pPr>
            <a:r>
              <a:t>Vim/Emacs</a:t>
            </a:r>
          </a:p>
        </p:txBody>
      </p:sp>
      <p:sp>
        <p:nvSpPr>
          <p:cNvPr id="24" name="TextBox 23"/>
          <p:cNvSpPr txBox="1"/>
          <p:nvPr/>
        </p:nvSpPr>
        <p:spPr>
          <a:xfrm>
            <a:off x="6309360" y="3118104"/>
            <a:ext cx="2377440" cy="320040"/>
          </a:xfrm>
          <a:prstGeom prst="rect">
            <a:avLst/>
          </a:prstGeom>
          <a:noFill/>
        </p:spPr>
        <p:txBody>
          <a:bodyPr wrap="square" anchor="t">
            <a:spAutoFit/>
          </a:bodyPr>
          <a:lstStyle/>
          <a:p>
            <a:pPr algn="l">
              <a:defRPr sz="800" b="0">
                <a:solidFill>
                  <a:srgbClr val="9C9C9C"/>
                </a:solidFill>
              </a:defRPr>
            </a:pPr>
            <a:r>
              <a:t>Expert tools; steep learning curve, no AI native</a:t>
            </a:r>
          </a:p>
        </p:txBody>
      </p:sp>
      <p:sp>
        <p:nvSpPr>
          <p:cNvPr id="25" name="Rounded Rectangle 24"/>
          <p:cNvSpPr/>
          <p:nvPr/>
        </p:nvSpPr>
        <p:spPr>
          <a:xfrm>
            <a:off x="320040" y="3749039"/>
            <a:ext cx="8503920" cy="201168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20040" y="3749039"/>
            <a:ext cx="8503920" cy="45720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How Cursor Differentiates</a:t>
            </a:r>
          </a:p>
        </p:txBody>
      </p:sp>
      <p:sp>
        <p:nvSpPr>
          <p:cNvPr id="27" name="Rounded Rectangle 26"/>
          <p:cNvSpPr/>
          <p:nvPr/>
        </p:nvSpPr>
        <p:spPr>
          <a:xfrm>
            <a:off x="457200" y="4343399"/>
            <a:ext cx="73152"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297679"/>
            <a:ext cx="1645920" cy="320040"/>
          </a:xfrm>
          <a:prstGeom prst="rect">
            <a:avLst/>
          </a:prstGeom>
          <a:noFill/>
        </p:spPr>
        <p:txBody>
          <a:bodyPr wrap="square" anchor="t">
            <a:spAutoFit/>
          </a:bodyPr>
          <a:lstStyle/>
          <a:p>
            <a:pPr algn="l">
              <a:defRPr sz="1000" b="1">
                <a:solidFill>
                  <a:srgbClr val="8B5CF6"/>
                </a:solidFill>
              </a:defRPr>
            </a:pPr>
            <a:r>
              <a:t>AI-Native IDE</a:t>
            </a:r>
          </a:p>
        </p:txBody>
      </p:sp>
      <p:sp>
        <p:nvSpPr>
          <p:cNvPr id="29" name="TextBox 28"/>
          <p:cNvSpPr txBox="1"/>
          <p:nvPr/>
        </p:nvSpPr>
        <p:spPr>
          <a:xfrm>
            <a:off x="2286000" y="4297679"/>
            <a:ext cx="6400800" cy="320040"/>
          </a:xfrm>
          <a:prstGeom prst="rect">
            <a:avLst/>
          </a:prstGeom>
          <a:noFill/>
        </p:spPr>
        <p:txBody>
          <a:bodyPr wrap="square" anchor="t">
            <a:spAutoFit/>
          </a:bodyPr>
          <a:lstStyle/>
          <a:p>
            <a:pPr algn="l">
              <a:defRPr sz="900" b="0">
                <a:solidFill>
                  <a:srgbClr val="E5E5E5"/>
                </a:solidFill>
              </a:defRPr>
            </a:pPr>
            <a:r>
              <a:t>Deeper project awareness &amp; multi-file editing vs simple code suggestions</a:t>
            </a:r>
          </a:p>
        </p:txBody>
      </p:sp>
      <p:sp>
        <p:nvSpPr>
          <p:cNvPr id="30" name="Rounded Rectangle 29"/>
          <p:cNvSpPr/>
          <p:nvPr/>
        </p:nvSpPr>
        <p:spPr>
          <a:xfrm>
            <a:off x="457200" y="4690871"/>
            <a:ext cx="73152" cy="2286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645151"/>
            <a:ext cx="1645920" cy="320040"/>
          </a:xfrm>
          <a:prstGeom prst="rect">
            <a:avLst/>
          </a:prstGeom>
          <a:noFill/>
        </p:spPr>
        <p:txBody>
          <a:bodyPr wrap="square" anchor="t">
            <a:spAutoFit/>
          </a:bodyPr>
          <a:lstStyle/>
          <a:p>
            <a:pPr algn="l">
              <a:defRPr sz="1000" b="1">
                <a:solidFill>
                  <a:srgbClr val="3B82F6"/>
                </a:solidFill>
              </a:defRPr>
            </a:pPr>
            <a:r>
              <a:t>Multi-Model Routing</a:t>
            </a:r>
          </a:p>
        </p:txBody>
      </p:sp>
      <p:sp>
        <p:nvSpPr>
          <p:cNvPr id="32" name="TextBox 31"/>
          <p:cNvSpPr txBox="1"/>
          <p:nvPr/>
        </p:nvSpPr>
        <p:spPr>
          <a:xfrm>
            <a:off x="2286000" y="4645151"/>
            <a:ext cx="6400800" cy="320040"/>
          </a:xfrm>
          <a:prstGeom prst="rect">
            <a:avLst/>
          </a:prstGeom>
          <a:noFill/>
        </p:spPr>
        <p:txBody>
          <a:bodyPr wrap="square" anchor="t">
            <a:spAutoFit/>
          </a:bodyPr>
          <a:lstStyle/>
          <a:p>
            <a:pPr algn="l">
              <a:defRPr sz="900" b="0">
                <a:solidFill>
                  <a:srgbClr val="E5E5E5"/>
                </a:solidFill>
              </a:defRPr>
            </a:pPr>
            <a:r>
              <a:t>OpenAI, Anthropic, Google models vs single-provider lock-in</a:t>
            </a:r>
          </a:p>
        </p:txBody>
      </p:sp>
      <p:sp>
        <p:nvSpPr>
          <p:cNvPr id="33" name="Rounded Rectangle 32"/>
          <p:cNvSpPr/>
          <p:nvPr/>
        </p:nvSpPr>
        <p:spPr>
          <a:xfrm>
            <a:off x="457200" y="5038343"/>
            <a:ext cx="73152" cy="22860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4992623"/>
            <a:ext cx="1645920" cy="320040"/>
          </a:xfrm>
          <a:prstGeom prst="rect">
            <a:avLst/>
          </a:prstGeom>
          <a:noFill/>
        </p:spPr>
        <p:txBody>
          <a:bodyPr wrap="square" anchor="t">
            <a:spAutoFit/>
          </a:bodyPr>
          <a:lstStyle/>
          <a:p>
            <a:pPr algn="l">
              <a:defRPr sz="1000" b="1">
                <a:solidFill>
                  <a:srgbClr val="22C55E"/>
                </a:solidFill>
              </a:defRPr>
            </a:pPr>
            <a:r>
              <a:t>Enterprise-Grade</a:t>
            </a:r>
          </a:p>
        </p:txBody>
      </p:sp>
      <p:sp>
        <p:nvSpPr>
          <p:cNvPr id="35" name="TextBox 34"/>
          <p:cNvSpPr txBox="1"/>
          <p:nvPr/>
        </p:nvSpPr>
        <p:spPr>
          <a:xfrm>
            <a:off x="2286000" y="4992623"/>
            <a:ext cx="6400800" cy="320040"/>
          </a:xfrm>
          <a:prstGeom prst="rect">
            <a:avLst/>
          </a:prstGeom>
          <a:noFill/>
        </p:spPr>
        <p:txBody>
          <a:bodyPr wrap="square" anchor="t">
            <a:spAutoFit/>
          </a:bodyPr>
          <a:lstStyle/>
          <a:p>
            <a:pPr algn="l">
              <a:defRPr sz="900" b="0">
                <a:solidFill>
                  <a:srgbClr val="E5E5E5"/>
                </a:solidFill>
              </a:defRPr>
            </a:pPr>
            <a:r>
              <a:t>SSO, RBAC, audit logs, model controls vs consumer-only tools</a:t>
            </a:r>
          </a:p>
        </p:txBody>
      </p:sp>
      <p:sp>
        <p:nvSpPr>
          <p:cNvPr id="36" name="Rounded Rectangle 35"/>
          <p:cNvSpPr/>
          <p:nvPr/>
        </p:nvSpPr>
        <p:spPr>
          <a:xfrm>
            <a:off x="457200" y="5385815"/>
            <a:ext cx="73152" cy="2286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5340095"/>
            <a:ext cx="1645920" cy="320040"/>
          </a:xfrm>
          <a:prstGeom prst="rect">
            <a:avLst/>
          </a:prstGeom>
          <a:noFill/>
        </p:spPr>
        <p:txBody>
          <a:bodyPr wrap="square" anchor="t">
            <a:spAutoFit/>
          </a:bodyPr>
          <a:lstStyle/>
          <a:p>
            <a:pPr algn="l">
              <a:defRPr sz="1000" b="1">
                <a:solidFill>
                  <a:srgbClr val="F59E0B"/>
                </a:solidFill>
              </a:defRPr>
            </a:pPr>
            <a:r>
              <a:t>Agent Capabilities</a:t>
            </a:r>
          </a:p>
        </p:txBody>
      </p:sp>
      <p:sp>
        <p:nvSpPr>
          <p:cNvPr id="38" name="TextBox 37"/>
          <p:cNvSpPr txBox="1"/>
          <p:nvPr/>
        </p:nvSpPr>
        <p:spPr>
          <a:xfrm>
            <a:off x="2286000" y="5340095"/>
            <a:ext cx="6400800" cy="320040"/>
          </a:xfrm>
          <a:prstGeom prst="rect">
            <a:avLst/>
          </a:prstGeom>
          <a:noFill/>
        </p:spPr>
        <p:txBody>
          <a:bodyPr wrap="square" anchor="t">
            <a:spAutoFit/>
          </a:bodyPr>
          <a:lstStyle/>
          <a:p>
            <a:pPr algn="l">
              <a:defRPr sz="900" b="0">
                <a:solidFill>
                  <a:srgbClr val="E5E5E5"/>
                </a:solidFill>
              </a:defRPr>
            </a:pPr>
            <a:r>
              <a:t>Autonomous coding tasks, terminal commands vs passive autocomplete</a:t>
            </a:r>
          </a:p>
        </p:txBody>
      </p:sp>
      <p:sp>
        <p:nvSpPr>
          <p:cNvPr id="39" name="TextBox 38"/>
          <p:cNvSpPr txBox="1"/>
          <p:nvPr/>
        </p:nvSpPr>
        <p:spPr>
          <a:xfrm>
            <a:off x="274320" y="6537960"/>
            <a:ext cx="8595360" cy="274320"/>
          </a:xfrm>
          <a:prstGeom prst="rect">
            <a:avLst/>
          </a:prstGeom>
          <a:noFill/>
        </p:spPr>
        <p:txBody>
          <a:bodyPr wrap="square" anchor="t">
            <a:spAutoFit/>
          </a:bodyPr>
          <a:lstStyle/>
          <a:p>
            <a:pPr algn="l">
              <a:defRPr sz="700" b="0">
                <a:solidFill>
                  <a:srgbClr val="525252"/>
                </a:solidFill>
              </a:defRPr>
            </a:pPr>
            <a:r>
              <a:t>Competitive analysis based on publicly available product information</a:t>
            </a:r>
          </a:p>
        </p:txBody>
      </p:sp>
      <p:sp>
        <p:nvSpPr>
          <p:cNvPr id="40" name="TextBox 39"/>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nchor="t">
            <a:spAutoFit/>
          </a:bodyPr>
          <a:lstStyle/>
          <a:p>
            <a:pPr algn="l">
              <a:defRPr sz="3400" b="1">
                <a:solidFill>
                  <a:srgbClr val="FFFFFF"/>
                </a:solidFill>
              </a:defRPr>
            </a:pPr>
            <a:r>
              <a:t>AI Technologies</a:t>
            </a:r>
          </a:p>
        </p:txBody>
      </p:sp>
      <p:sp>
        <p:nvSpPr>
          <p:cNvPr id="3" name="TextBox 2"/>
          <p:cNvSpPr txBox="1"/>
          <p:nvPr/>
        </p:nvSpPr>
        <p:spPr>
          <a:xfrm>
            <a:off x="457200" y="777240"/>
            <a:ext cx="8229600" cy="365760"/>
          </a:xfrm>
          <a:prstGeom prst="rect">
            <a:avLst/>
          </a:prstGeom>
          <a:noFill/>
        </p:spPr>
        <p:txBody>
          <a:bodyPr wrap="square" anchor="t">
            <a:spAutoFit/>
          </a:bodyPr>
          <a:lstStyle/>
          <a:p>
            <a:pPr algn="l">
              <a:defRPr sz="1400" b="0">
                <a:solidFill>
                  <a:srgbClr val="9C9C9C"/>
                </a:solidFill>
              </a:defRPr>
            </a:pPr>
            <a:r>
              <a:t>Under the Hood &amp; Proprietary Edge</a:t>
            </a:r>
          </a:p>
        </p:txBody>
      </p:sp>
      <p:sp>
        <p:nvSpPr>
          <p:cNvPr id="4" name="Rectangle 3"/>
          <p:cNvSpPr/>
          <p:nvPr/>
        </p:nvSpPr>
        <p:spPr>
          <a:xfrm>
            <a:off x="457200" y="1143000"/>
            <a:ext cx="1828800" cy="381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474720" y="2103120"/>
            <a:ext cx="2011680" cy="914400"/>
          </a:xfrm>
          <a:prstGeom prst="roundRect">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CURSOR</a:t>
            </a:r>
            <a:br/>
            <a:r>
              <a:t>AI Router</a:t>
            </a:r>
          </a:p>
        </p:txBody>
      </p:sp>
      <p:sp>
        <p:nvSpPr>
          <p:cNvPr id="6" name="Rounded Rectangle 5"/>
          <p:cNvSpPr/>
          <p:nvPr/>
        </p:nvSpPr>
        <p:spPr>
          <a:xfrm>
            <a:off x="731520" y="1463040"/>
            <a:ext cx="1463040" cy="64008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22C55E"/>
                </a:solidFill>
              </a:defRPr>
            </a:pPr>
            <a:r>
              <a:t>OpenAI</a:t>
            </a:r>
          </a:p>
        </p:txBody>
      </p:sp>
      <p:sp>
        <p:nvSpPr>
          <p:cNvPr id="7" name="Rectangle 6"/>
          <p:cNvSpPr/>
          <p:nvPr/>
        </p:nvSpPr>
        <p:spPr>
          <a:xfrm>
            <a:off x="2194560" y="1737360"/>
            <a:ext cx="1280160" cy="25400"/>
          </a:xfrm>
          <a:prstGeom prst="rect">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0" y="1463040"/>
            <a:ext cx="1463040" cy="64008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59E0B"/>
                </a:solidFill>
              </a:defRPr>
            </a:pPr>
            <a:r>
              <a:t>Anthropic</a:t>
            </a:r>
          </a:p>
        </p:txBody>
      </p:sp>
      <p:sp>
        <p:nvSpPr>
          <p:cNvPr id="9" name="Rectangle 8"/>
          <p:cNvSpPr/>
          <p:nvPr/>
        </p:nvSpPr>
        <p:spPr>
          <a:xfrm>
            <a:off x="5486400" y="1737360"/>
            <a:ext cx="1097280" cy="25400"/>
          </a:xfrm>
          <a:prstGeom prst="rect">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926080"/>
            <a:ext cx="1463040" cy="64008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B82F6"/>
                </a:solidFill>
              </a:defRPr>
            </a:pPr>
            <a:r>
              <a:t>Google</a:t>
            </a:r>
          </a:p>
        </p:txBody>
      </p:sp>
      <p:sp>
        <p:nvSpPr>
          <p:cNvPr id="11" name="Rectangle 10"/>
          <p:cNvSpPr/>
          <p:nvPr/>
        </p:nvSpPr>
        <p:spPr>
          <a:xfrm>
            <a:off x="2194560" y="3200400"/>
            <a:ext cx="1280160" cy="25400"/>
          </a:xfrm>
          <a:prstGeom prst="rect">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83680" y="2926080"/>
            <a:ext cx="1463040" cy="640080"/>
          </a:xfrm>
          <a:prstGeom prst="roundRect">
            <a:avLst/>
          </a:prstGeom>
          <a:solidFill>
            <a:srgbClr val="262626"/>
          </a:solidFill>
          <a:ln w="254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525252"/>
                </a:solidFill>
              </a:defRPr>
            </a:pPr>
            <a:r>
              <a:t>Others</a:t>
            </a:r>
          </a:p>
        </p:txBody>
      </p:sp>
      <p:sp>
        <p:nvSpPr>
          <p:cNvPr id="13" name="Rectangle 12"/>
          <p:cNvSpPr/>
          <p:nvPr/>
        </p:nvSpPr>
        <p:spPr>
          <a:xfrm>
            <a:off x="5486400" y="3200400"/>
            <a:ext cx="1097280" cy="25400"/>
          </a:xfrm>
          <a:prstGeom prst="rect">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200400" y="3200400"/>
            <a:ext cx="2560320" cy="45720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AUTO: Intelligent Routing</a:t>
            </a:r>
          </a:p>
        </p:txBody>
      </p:sp>
      <p:sp>
        <p:nvSpPr>
          <p:cNvPr id="15" name="Rounded Rectangle 14"/>
          <p:cNvSpPr/>
          <p:nvPr/>
        </p:nvSpPr>
        <p:spPr>
          <a:xfrm>
            <a:off x="320040" y="3840480"/>
            <a:ext cx="1920240" cy="141732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60120" y="3977640"/>
            <a:ext cx="457200" cy="4572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4480560"/>
            <a:ext cx="1737360" cy="320040"/>
          </a:xfrm>
          <a:prstGeom prst="rect">
            <a:avLst/>
          </a:prstGeom>
          <a:noFill/>
        </p:spPr>
        <p:txBody>
          <a:bodyPr wrap="square" anchor="t">
            <a:spAutoFit/>
          </a:bodyPr>
          <a:lstStyle/>
          <a:p>
            <a:pPr algn="ctr">
              <a:defRPr sz="1000" b="1">
                <a:solidFill>
                  <a:srgbClr val="8B5CF6"/>
                </a:solidFill>
              </a:defRPr>
            </a:pPr>
            <a:r>
              <a:t>Frontier LLMs</a:t>
            </a:r>
          </a:p>
        </p:txBody>
      </p:sp>
      <p:sp>
        <p:nvSpPr>
          <p:cNvPr id="18" name="TextBox 17"/>
          <p:cNvSpPr txBox="1"/>
          <p:nvPr/>
        </p:nvSpPr>
        <p:spPr>
          <a:xfrm>
            <a:off x="411480" y="4754880"/>
            <a:ext cx="1737360" cy="457200"/>
          </a:xfrm>
          <a:prstGeom prst="rect">
            <a:avLst/>
          </a:prstGeom>
          <a:noFill/>
        </p:spPr>
        <p:txBody>
          <a:bodyPr wrap="square" anchor="t">
            <a:spAutoFit/>
          </a:bodyPr>
          <a:lstStyle/>
          <a:p>
            <a:pPr algn="ctr">
              <a:defRPr sz="800" b="0">
                <a:solidFill>
                  <a:srgbClr val="9C9C9C"/>
                </a:solidFill>
              </a:defRPr>
            </a:pPr>
            <a:r>
              <a:t>GPT-4, Claude, Gemini</a:t>
            </a:r>
            <a:br/>
            <a:r>
              <a:t>and other cutting-edge</a:t>
            </a:r>
            <a:br/>
            <a:r>
              <a:t>language models</a:t>
            </a:r>
          </a:p>
        </p:txBody>
      </p:sp>
      <p:sp>
        <p:nvSpPr>
          <p:cNvPr id="19" name="Rounded Rectangle 18"/>
          <p:cNvSpPr/>
          <p:nvPr/>
        </p:nvSpPr>
        <p:spPr>
          <a:xfrm>
            <a:off x="2331720" y="3840480"/>
            <a:ext cx="1920240" cy="141732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2971800" y="397764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23160" y="4480560"/>
            <a:ext cx="1737360" cy="320040"/>
          </a:xfrm>
          <a:prstGeom prst="rect">
            <a:avLst/>
          </a:prstGeom>
          <a:noFill/>
        </p:spPr>
        <p:txBody>
          <a:bodyPr wrap="square" anchor="t">
            <a:spAutoFit/>
          </a:bodyPr>
          <a:lstStyle/>
          <a:p>
            <a:pPr algn="ctr">
              <a:defRPr sz="1000" b="1">
                <a:solidFill>
                  <a:srgbClr val="3B82F6"/>
                </a:solidFill>
              </a:defRPr>
            </a:pPr>
            <a:r>
              <a:t>Agent System</a:t>
            </a:r>
          </a:p>
        </p:txBody>
      </p:sp>
      <p:sp>
        <p:nvSpPr>
          <p:cNvPr id="22" name="TextBox 21"/>
          <p:cNvSpPr txBox="1"/>
          <p:nvPr/>
        </p:nvSpPr>
        <p:spPr>
          <a:xfrm>
            <a:off x="2423160" y="4754880"/>
            <a:ext cx="1737360" cy="457200"/>
          </a:xfrm>
          <a:prstGeom prst="rect">
            <a:avLst/>
          </a:prstGeom>
          <a:noFill/>
        </p:spPr>
        <p:txBody>
          <a:bodyPr wrap="square" anchor="t">
            <a:spAutoFit/>
          </a:bodyPr>
          <a:lstStyle/>
          <a:p>
            <a:pPr algn="ctr">
              <a:defRPr sz="800" b="0">
                <a:solidFill>
                  <a:srgbClr val="9C9C9C"/>
                </a:solidFill>
              </a:defRPr>
            </a:pPr>
            <a:r>
              <a:t>Multi-file editing,</a:t>
            </a:r>
            <a:br/>
            <a:r>
              <a:t>terminal commands,</a:t>
            </a:r>
            <a:br/>
            <a:r>
              <a:t>iterative feedback loops</a:t>
            </a:r>
          </a:p>
        </p:txBody>
      </p:sp>
      <p:sp>
        <p:nvSpPr>
          <p:cNvPr id="23" name="Rounded Rectangle 22"/>
          <p:cNvSpPr/>
          <p:nvPr/>
        </p:nvSpPr>
        <p:spPr>
          <a:xfrm>
            <a:off x="4343400" y="3840480"/>
            <a:ext cx="1920240" cy="141732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983480" y="3977640"/>
            <a:ext cx="457200" cy="45720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4480560"/>
            <a:ext cx="1737360" cy="320040"/>
          </a:xfrm>
          <a:prstGeom prst="rect">
            <a:avLst/>
          </a:prstGeom>
          <a:noFill/>
        </p:spPr>
        <p:txBody>
          <a:bodyPr wrap="square" anchor="t">
            <a:spAutoFit/>
          </a:bodyPr>
          <a:lstStyle/>
          <a:p>
            <a:pPr algn="ctr">
              <a:defRPr sz="1000" b="1">
                <a:solidFill>
                  <a:srgbClr val="22C55E"/>
                </a:solidFill>
              </a:defRPr>
            </a:pPr>
            <a:r>
              <a:t>Proprietary Edge</a:t>
            </a:r>
          </a:p>
        </p:txBody>
      </p:sp>
      <p:sp>
        <p:nvSpPr>
          <p:cNvPr id="26" name="TextBox 25"/>
          <p:cNvSpPr txBox="1"/>
          <p:nvPr/>
        </p:nvSpPr>
        <p:spPr>
          <a:xfrm>
            <a:off x="4434840" y="4754880"/>
            <a:ext cx="1737360" cy="457200"/>
          </a:xfrm>
          <a:prstGeom prst="rect">
            <a:avLst/>
          </a:prstGeom>
          <a:noFill/>
        </p:spPr>
        <p:txBody>
          <a:bodyPr wrap="square" anchor="t">
            <a:spAutoFit/>
          </a:bodyPr>
          <a:lstStyle/>
          <a:p>
            <a:pPr algn="ctr">
              <a:defRPr sz="800" b="0">
                <a:solidFill>
                  <a:srgbClr val="9C9C9C"/>
                </a:solidFill>
              </a:defRPr>
            </a:pPr>
            <a:r>
              <a:t>Routing logic, IDE</a:t>
            </a:r>
            <a:br/>
            <a:r>
              <a:t>integration, project</a:t>
            </a:r>
            <a:br/>
            <a:r>
              <a:t>context handling</a:t>
            </a:r>
          </a:p>
        </p:txBody>
      </p:sp>
      <p:sp>
        <p:nvSpPr>
          <p:cNvPr id="27" name="Rounded Rectangle 26"/>
          <p:cNvSpPr/>
          <p:nvPr/>
        </p:nvSpPr>
        <p:spPr>
          <a:xfrm>
            <a:off x="6355080" y="3840480"/>
            <a:ext cx="1920240" cy="141732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995160" y="397764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4480560"/>
            <a:ext cx="1737360" cy="320040"/>
          </a:xfrm>
          <a:prstGeom prst="rect">
            <a:avLst/>
          </a:prstGeom>
          <a:noFill/>
        </p:spPr>
        <p:txBody>
          <a:bodyPr wrap="square" anchor="t">
            <a:spAutoFit/>
          </a:bodyPr>
          <a:lstStyle/>
          <a:p>
            <a:pPr algn="ctr">
              <a:defRPr sz="1000" b="1">
                <a:solidFill>
                  <a:srgbClr val="F59E0B"/>
                </a:solidFill>
              </a:defRPr>
            </a:pPr>
            <a:r>
              <a:t>Optimization</a:t>
            </a:r>
          </a:p>
        </p:txBody>
      </p:sp>
      <p:sp>
        <p:nvSpPr>
          <p:cNvPr id="30" name="TextBox 29"/>
          <p:cNvSpPr txBox="1"/>
          <p:nvPr/>
        </p:nvSpPr>
        <p:spPr>
          <a:xfrm>
            <a:off x="6446520" y="4754880"/>
            <a:ext cx="1737360" cy="457200"/>
          </a:xfrm>
          <a:prstGeom prst="rect">
            <a:avLst/>
          </a:prstGeom>
          <a:noFill/>
        </p:spPr>
        <p:txBody>
          <a:bodyPr wrap="square" anchor="t">
            <a:spAutoFit/>
          </a:bodyPr>
          <a:lstStyle/>
          <a:p>
            <a:pPr algn="ctr">
              <a:defRPr sz="800" b="0">
                <a:solidFill>
                  <a:srgbClr val="9C9C9C"/>
                </a:solidFill>
              </a:defRPr>
            </a:pPr>
            <a:r>
              <a:t>Cost, latency, and</a:t>
            </a:r>
            <a:br/>
            <a:r>
              <a:t>reliability balancing</a:t>
            </a:r>
            <a:br/>
            <a:r>
              <a:t>across providers</a:t>
            </a:r>
          </a:p>
        </p:txBody>
      </p:sp>
      <p:sp>
        <p:nvSpPr>
          <p:cNvPr id="31" name="TextBox 30"/>
          <p:cNvSpPr txBox="1"/>
          <p:nvPr/>
        </p:nvSpPr>
        <p:spPr>
          <a:xfrm>
            <a:off x="320040" y="5394960"/>
            <a:ext cx="8503920" cy="365760"/>
          </a:xfrm>
          <a:prstGeom prst="rect">
            <a:avLst/>
          </a:prstGeom>
          <a:noFill/>
        </p:spPr>
        <p:txBody>
          <a:bodyPr wrap="square" anchor="t">
            <a:spAutoFit/>
          </a:bodyPr>
          <a:lstStyle/>
          <a:p>
            <a:pPr algn="ctr">
              <a:defRPr sz="900" b="0">
                <a:solidFill>
                  <a:srgbClr val="525252"/>
                </a:solidFill>
              </a:defRPr>
            </a:pPr>
            <a:r>
              <a:t>"Secret Sauce": Cursor's value is in the integration layer—routing, context, IDE UX—built on top of base models</a:t>
            </a:r>
          </a:p>
        </p:txBody>
      </p:sp>
      <p:sp>
        <p:nvSpPr>
          <p:cNvPr id="32" name="TextBox 31"/>
          <p:cNvSpPr txBox="1"/>
          <p:nvPr/>
        </p:nvSpPr>
        <p:spPr>
          <a:xfrm>
            <a:off x="274320" y="6537960"/>
            <a:ext cx="8595360" cy="274320"/>
          </a:xfrm>
          <a:prstGeom prst="rect">
            <a:avLst/>
          </a:prstGeom>
          <a:noFill/>
        </p:spPr>
        <p:txBody>
          <a:bodyPr wrap="square" anchor="t">
            <a:spAutoFit/>
          </a:bodyPr>
          <a:lstStyle/>
          <a:p>
            <a:pPr algn="l">
              <a:defRPr sz="700" b="0">
                <a:solidFill>
                  <a:srgbClr val="525252"/>
                </a:solidFill>
              </a:defRPr>
            </a:pPr>
            <a:r>
              <a:t>Source: cursor.com/docs/models</a:t>
            </a:r>
          </a:p>
        </p:txBody>
      </p:sp>
      <p:sp>
        <p:nvSpPr>
          <p:cNvPr id="33" name="TextBox 32"/>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nchor="t">
            <a:spAutoFit/>
          </a:bodyPr>
          <a:lstStyle/>
          <a:p>
            <a:pPr algn="l">
              <a:defRPr sz="3400" b="1">
                <a:solidFill>
                  <a:srgbClr val="FFFFFF"/>
                </a:solidFill>
              </a:defRPr>
            </a:pPr>
            <a:r>
              <a:t>Enterprise Security</a:t>
            </a:r>
          </a:p>
        </p:txBody>
      </p:sp>
      <p:sp>
        <p:nvSpPr>
          <p:cNvPr id="3" name="TextBox 2"/>
          <p:cNvSpPr txBox="1"/>
          <p:nvPr/>
        </p:nvSpPr>
        <p:spPr>
          <a:xfrm>
            <a:off x="457200" y="777240"/>
            <a:ext cx="8229600" cy="365760"/>
          </a:xfrm>
          <a:prstGeom prst="rect">
            <a:avLst/>
          </a:prstGeom>
          <a:noFill/>
        </p:spPr>
        <p:txBody>
          <a:bodyPr wrap="square" anchor="t">
            <a:spAutoFit/>
          </a:bodyPr>
          <a:lstStyle/>
          <a:p>
            <a:pPr algn="l">
              <a:defRPr sz="1400" b="0">
                <a:solidFill>
                  <a:srgbClr val="9C9C9C"/>
                </a:solidFill>
              </a:defRPr>
            </a:pPr>
            <a:r>
              <a:t>Compliance &amp; Risk Considerations</a:t>
            </a:r>
          </a:p>
        </p:txBody>
      </p:sp>
      <p:sp>
        <p:nvSpPr>
          <p:cNvPr id="4" name="Rectangle 3"/>
          <p:cNvSpPr/>
          <p:nvPr/>
        </p:nvSpPr>
        <p:spPr>
          <a:xfrm>
            <a:off x="457200" y="1143000"/>
            <a:ext cx="182880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4320" y="1371600"/>
            <a:ext cx="2011680" cy="219456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4400" y="1508760"/>
            <a:ext cx="548640" cy="54864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FFFFFF"/>
                </a:solidFill>
              </a:defRPr>
            </a:pPr>
            <a:r>
              <a:t>🛡️</a:t>
            </a:r>
          </a:p>
        </p:txBody>
      </p:sp>
      <p:sp>
        <p:nvSpPr>
          <p:cNvPr id="7" name="TextBox 6"/>
          <p:cNvSpPr txBox="1"/>
          <p:nvPr/>
        </p:nvSpPr>
        <p:spPr>
          <a:xfrm>
            <a:off x="365760" y="2148840"/>
            <a:ext cx="1828800" cy="320040"/>
          </a:xfrm>
          <a:prstGeom prst="rect">
            <a:avLst/>
          </a:prstGeom>
          <a:noFill/>
        </p:spPr>
        <p:txBody>
          <a:bodyPr wrap="square" anchor="t">
            <a:spAutoFit/>
          </a:bodyPr>
          <a:lstStyle/>
          <a:p>
            <a:pPr algn="ctr">
              <a:defRPr sz="1200" b="1">
                <a:solidFill>
                  <a:srgbClr val="22C55E"/>
                </a:solidFill>
              </a:defRPr>
            </a:pPr>
            <a:r>
              <a:t>Compliance</a:t>
            </a:r>
          </a:p>
        </p:txBody>
      </p:sp>
      <p:sp>
        <p:nvSpPr>
          <p:cNvPr id="8" name="TextBox 7"/>
          <p:cNvSpPr txBox="1"/>
          <p:nvPr/>
        </p:nvSpPr>
        <p:spPr>
          <a:xfrm>
            <a:off x="411480" y="2560320"/>
            <a:ext cx="1737360" cy="274320"/>
          </a:xfrm>
          <a:prstGeom prst="rect">
            <a:avLst/>
          </a:prstGeom>
          <a:noFill/>
        </p:spPr>
        <p:txBody>
          <a:bodyPr wrap="square" anchor="t">
            <a:spAutoFit/>
          </a:bodyPr>
          <a:lstStyle/>
          <a:p>
            <a:pPr algn="ctr">
              <a:defRPr sz="900" b="0">
                <a:solidFill>
                  <a:srgbClr val="9C9C9C"/>
                </a:solidFill>
              </a:defRPr>
            </a:pPr>
            <a:r>
              <a:t>• SOC 2 Type II</a:t>
            </a:r>
          </a:p>
        </p:txBody>
      </p:sp>
      <p:sp>
        <p:nvSpPr>
          <p:cNvPr id="9" name="TextBox 8"/>
          <p:cNvSpPr txBox="1"/>
          <p:nvPr/>
        </p:nvSpPr>
        <p:spPr>
          <a:xfrm>
            <a:off x="411480" y="2852928"/>
            <a:ext cx="1737360" cy="274320"/>
          </a:xfrm>
          <a:prstGeom prst="rect">
            <a:avLst/>
          </a:prstGeom>
          <a:noFill/>
        </p:spPr>
        <p:txBody>
          <a:bodyPr wrap="square" anchor="t">
            <a:spAutoFit/>
          </a:bodyPr>
          <a:lstStyle/>
          <a:p>
            <a:pPr algn="ctr">
              <a:defRPr sz="900" b="0">
                <a:solidFill>
                  <a:srgbClr val="9C9C9C"/>
                </a:solidFill>
              </a:defRPr>
            </a:pPr>
            <a:r>
              <a:t>• Annual pen tests</a:t>
            </a:r>
          </a:p>
        </p:txBody>
      </p:sp>
      <p:sp>
        <p:nvSpPr>
          <p:cNvPr id="10" name="TextBox 9"/>
          <p:cNvSpPr txBox="1"/>
          <p:nvPr/>
        </p:nvSpPr>
        <p:spPr>
          <a:xfrm>
            <a:off x="411480" y="3145536"/>
            <a:ext cx="1737360" cy="274320"/>
          </a:xfrm>
          <a:prstGeom prst="rect">
            <a:avLst/>
          </a:prstGeom>
          <a:noFill/>
        </p:spPr>
        <p:txBody>
          <a:bodyPr wrap="square" anchor="t">
            <a:spAutoFit/>
          </a:bodyPr>
          <a:lstStyle/>
          <a:p>
            <a:pPr algn="ctr">
              <a:defRPr sz="900" b="0">
                <a:solidFill>
                  <a:srgbClr val="9C9C9C"/>
                </a:solidFill>
              </a:defRPr>
            </a:pPr>
            <a:r>
              <a:t>• Trust Center</a:t>
            </a:r>
          </a:p>
        </p:txBody>
      </p:sp>
      <p:sp>
        <p:nvSpPr>
          <p:cNvPr id="11" name="Rounded Rectangle 10"/>
          <p:cNvSpPr/>
          <p:nvPr/>
        </p:nvSpPr>
        <p:spPr>
          <a:xfrm>
            <a:off x="2468880" y="1371600"/>
            <a:ext cx="2011680" cy="219456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108960" y="1508760"/>
            <a:ext cx="548640" cy="5486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FFFFFF"/>
                </a:solidFill>
              </a:defRPr>
            </a:pPr>
            <a:r>
              <a:t>🔐</a:t>
            </a:r>
          </a:p>
        </p:txBody>
      </p:sp>
      <p:sp>
        <p:nvSpPr>
          <p:cNvPr id="13" name="TextBox 12"/>
          <p:cNvSpPr txBox="1"/>
          <p:nvPr/>
        </p:nvSpPr>
        <p:spPr>
          <a:xfrm>
            <a:off x="2560320" y="2148840"/>
            <a:ext cx="1828800" cy="320040"/>
          </a:xfrm>
          <a:prstGeom prst="rect">
            <a:avLst/>
          </a:prstGeom>
          <a:noFill/>
        </p:spPr>
        <p:txBody>
          <a:bodyPr wrap="square" anchor="t">
            <a:spAutoFit/>
          </a:bodyPr>
          <a:lstStyle/>
          <a:p>
            <a:pPr algn="ctr">
              <a:defRPr sz="1200" b="1">
                <a:solidFill>
                  <a:srgbClr val="3B82F6"/>
                </a:solidFill>
              </a:defRPr>
            </a:pPr>
            <a:r>
              <a:t>Encryption</a:t>
            </a:r>
          </a:p>
        </p:txBody>
      </p:sp>
      <p:sp>
        <p:nvSpPr>
          <p:cNvPr id="14" name="TextBox 13"/>
          <p:cNvSpPr txBox="1"/>
          <p:nvPr/>
        </p:nvSpPr>
        <p:spPr>
          <a:xfrm>
            <a:off x="2606040" y="2560320"/>
            <a:ext cx="1737360" cy="274320"/>
          </a:xfrm>
          <a:prstGeom prst="rect">
            <a:avLst/>
          </a:prstGeom>
          <a:noFill/>
        </p:spPr>
        <p:txBody>
          <a:bodyPr wrap="square" anchor="t">
            <a:spAutoFit/>
          </a:bodyPr>
          <a:lstStyle/>
          <a:p>
            <a:pPr algn="ctr">
              <a:defRPr sz="900" b="0">
                <a:solidFill>
                  <a:srgbClr val="9C9C9C"/>
                </a:solidFill>
              </a:defRPr>
            </a:pPr>
            <a:r>
              <a:t>• AES-256 at rest</a:t>
            </a:r>
          </a:p>
        </p:txBody>
      </p:sp>
      <p:sp>
        <p:nvSpPr>
          <p:cNvPr id="15" name="TextBox 14"/>
          <p:cNvSpPr txBox="1"/>
          <p:nvPr/>
        </p:nvSpPr>
        <p:spPr>
          <a:xfrm>
            <a:off x="2606040" y="2852928"/>
            <a:ext cx="1737360" cy="274320"/>
          </a:xfrm>
          <a:prstGeom prst="rect">
            <a:avLst/>
          </a:prstGeom>
          <a:noFill/>
        </p:spPr>
        <p:txBody>
          <a:bodyPr wrap="square" anchor="t">
            <a:spAutoFit/>
          </a:bodyPr>
          <a:lstStyle/>
          <a:p>
            <a:pPr algn="ctr">
              <a:defRPr sz="900" b="0">
                <a:solidFill>
                  <a:srgbClr val="9C9C9C"/>
                </a:solidFill>
              </a:defRPr>
            </a:pPr>
            <a:r>
              <a:t>• TLS 1.2+ transit</a:t>
            </a:r>
          </a:p>
        </p:txBody>
      </p:sp>
      <p:sp>
        <p:nvSpPr>
          <p:cNvPr id="16" name="TextBox 15"/>
          <p:cNvSpPr txBox="1"/>
          <p:nvPr/>
        </p:nvSpPr>
        <p:spPr>
          <a:xfrm>
            <a:off x="2606040" y="3145536"/>
            <a:ext cx="1737360" cy="274320"/>
          </a:xfrm>
          <a:prstGeom prst="rect">
            <a:avLst/>
          </a:prstGeom>
          <a:noFill/>
        </p:spPr>
        <p:txBody>
          <a:bodyPr wrap="square" anchor="t">
            <a:spAutoFit/>
          </a:bodyPr>
          <a:lstStyle/>
          <a:p>
            <a:pPr algn="ctr">
              <a:defRPr sz="900" b="0">
                <a:solidFill>
                  <a:srgbClr val="9C9C9C"/>
                </a:solidFill>
              </a:defRPr>
            </a:pPr>
            <a:r>
              <a:t>• E2E protection</a:t>
            </a:r>
          </a:p>
        </p:txBody>
      </p:sp>
      <p:sp>
        <p:nvSpPr>
          <p:cNvPr id="17" name="Rounded Rectangle 16"/>
          <p:cNvSpPr/>
          <p:nvPr/>
        </p:nvSpPr>
        <p:spPr>
          <a:xfrm>
            <a:off x="4663440" y="1371600"/>
            <a:ext cx="2011680" cy="219456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303520" y="1508760"/>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FFFFFF"/>
                </a:solidFill>
              </a:defRPr>
            </a:pPr>
            <a:r>
              <a:t>⚙️</a:t>
            </a:r>
          </a:p>
        </p:txBody>
      </p:sp>
      <p:sp>
        <p:nvSpPr>
          <p:cNvPr id="19" name="TextBox 18"/>
          <p:cNvSpPr txBox="1"/>
          <p:nvPr/>
        </p:nvSpPr>
        <p:spPr>
          <a:xfrm>
            <a:off x="4754880" y="2148840"/>
            <a:ext cx="1828800" cy="320040"/>
          </a:xfrm>
          <a:prstGeom prst="rect">
            <a:avLst/>
          </a:prstGeom>
          <a:noFill/>
        </p:spPr>
        <p:txBody>
          <a:bodyPr wrap="square" anchor="t">
            <a:spAutoFit/>
          </a:bodyPr>
          <a:lstStyle/>
          <a:p>
            <a:pPr algn="ctr">
              <a:defRPr sz="1200" b="1">
                <a:solidFill>
                  <a:srgbClr val="8B5CF6"/>
                </a:solidFill>
              </a:defRPr>
            </a:pPr>
            <a:r>
              <a:t>Controls</a:t>
            </a:r>
          </a:p>
        </p:txBody>
      </p:sp>
      <p:sp>
        <p:nvSpPr>
          <p:cNvPr id="20" name="TextBox 19"/>
          <p:cNvSpPr txBox="1"/>
          <p:nvPr/>
        </p:nvSpPr>
        <p:spPr>
          <a:xfrm>
            <a:off x="4800600" y="2560320"/>
            <a:ext cx="1737360" cy="274320"/>
          </a:xfrm>
          <a:prstGeom prst="rect">
            <a:avLst/>
          </a:prstGeom>
          <a:noFill/>
        </p:spPr>
        <p:txBody>
          <a:bodyPr wrap="square" anchor="t">
            <a:spAutoFit/>
          </a:bodyPr>
          <a:lstStyle/>
          <a:p>
            <a:pPr algn="ctr">
              <a:defRPr sz="900" b="0">
                <a:solidFill>
                  <a:srgbClr val="9C9C9C"/>
                </a:solidFill>
              </a:defRPr>
            </a:pPr>
            <a:r>
              <a:t>• Admin controls</a:t>
            </a:r>
          </a:p>
        </p:txBody>
      </p:sp>
      <p:sp>
        <p:nvSpPr>
          <p:cNvPr id="21" name="TextBox 20"/>
          <p:cNvSpPr txBox="1"/>
          <p:nvPr/>
        </p:nvSpPr>
        <p:spPr>
          <a:xfrm>
            <a:off x="4800600" y="2852928"/>
            <a:ext cx="1737360" cy="274320"/>
          </a:xfrm>
          <a:prstGeom prst="rect">
            <a:avLst/>
          </a:prstGeom>
          <a:noFill/>
        </p:spPr>
        <p:txBody>
          <a:bodyPr wrap="square" anchor="t">
            <a:spAutoFit/>
          </a:bodyPr>
          <a:lstStyle/>
          <a:p>
            <a:pPr algn="ctr">
              <a:defRPr sz="900" b="0">
                <a:solidFill>
                  <a:srgbClr val="9C9C9C"/>
                </a:solidFill>
              </a:defRPr>
            </a:pPr>
            <a:r>
              <a:t>• Model restrictions</a:t>
            </a:r>
          </a:p>
        </p:txBody>
      </p:sp>
      <p:sp>
        <p:nvSpPr>
          <p:cNvPr id="22" name="TextBox 21"/>
          <p:cNvSpPr txBox="1"/>
          <p:nvPr/>
        </p:nvSpPr>
        <p:spPr>
          <a:xfrm>
            <a:off x="4800600" y="3145536"/>
            <a:ext cx="1737360" cy="274320"/>
          </a:xfrm>
          <a:prstGeom prst="rect">
            <a:avLst/>
          </a:prstGeom>
          <a:noFill/>
        </p:spPr>
        <p:txBody>
          <a:bodyPr wrap="square" anchor="t">
            <a:spAutoFit/>
          </a:bodyPr>
          <a:lstStyle/>
          <a:p>
            <a:pPr algn="ctr">
              <a:defRPr sz="900" b="0">
                <a:solidFill>
                  <a:srgbClr val="9C9C9C"/>
                </a:solidFill>
              </a:defRPr>
            </a:pPr>
            <a:r>
              <a:t>• RBAC</a:t>
            </a:r>
          </a:p>
        </p:txBody>
      </p:sp>
      <p:sp>
        <p:nvSpPr>
          <p:cNvPr id="23" name="Rounded Rectangle 22"/>
          <p:cNvSpPr/>
          <p:nvPr/>
        </p:nvSpPr>
        <p:spPr>
          <a:xfrm>
            <a:off x="6858000" y="1371600"/>
            <a:ext cx="2011680" cy="219456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498080" y="1508760"/>
            <a:ext cx="548640" cy="5486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0">
                <a:solidFill>
                  <a:srgbClr val="FFFFFF"/>
                </a:solidFill>
              </a:defRPr>
            </a:pPr>
            <a:r>
              <a:t>📋</a:t>
            </a:r>
          </a:p>
        </p:txBody>
      </p:sp>
      <p:sp>
        <p:nvSpPr>
          <p:cNvPr id="25" name="TextBox 24"/>
          <p:cNvSpPr txBox="1"/>
          <p:nvPr/>
        </p:nvSpPr>
        <p:spPr>
          <a:xfrm>
            <a:off x="6949440" y="2148840"/>
            <a:ext cx="1828800" cy="320040"/>
          </a:xfrm>
          <a:prstGeom prst="rect">
            <a:avLst/>
          </a:prstGeom>
          <a:noFill/>
        </p:spPr>
        <p:txBody>
          <a:bodyPr wrap="square" anchor="t">
            <a:spAutoFit/>
          </a:bodyPr>
          <a:lstStyle/>
          <a:p>
            <a:pPr algn="ctr">
              <a:defRPr sz="1200" b="1">
                <a:solidFill>
                  <a:srgbClr val="F59E0B"/>
                </a:solidFill>
              </a:defRPr>
            </a:pPr>
            <a:r>
              <a:t>Privacy</a:t>
            </a:r>
          </a:p>
        </p:txBody>
      </p:sp>
      <p:sp>
        <p:nvSpPr>
          <p:cNvPr id="26" name="TextBox 25"/>
          <p:cNvSpPr txBox="1"/>
          <p:nvPr/>
        </p:nvSpPr>
        <p:spPr>
          <a:xfrm>
            <a:off x="6995160" y="2560320"/>
            <a:ext cx="1737360" cy="274320"/>
          </a:xfrm>
          <a:prstGeom prst="rect">
            <a:avLst/>
          </a:prstGeom>
          <a:noFill/>
        </p:spPr>
        <p:txBody>
          <a:bodyPr wrap="square" anchor="t">
            <a:spAutoFit/>
          </a:bodyPr>
          <a:lstStyle/>
          <a:p>
            <a:pPr algn="ctr">
              <a:defRPr sz="900" b="0">
                <a:solidFill>
                  <a:srgbClr val="9C9C9C"/>
                </a:solidFill>
              </a:defRPr>
            </a:pPr>
            <a:r>
              <a:t>• GDPR compliant</a:t>
            </a:r>
          </a:p>
        </p:txBody>
      </p:sp>
      <p:sp>
        <p:nvSpPr>
          <p:cNvPr id="27" name="TextBox 26"/>
          <p:cNvSpPr txBox="1"/>
          <p:nvPr/>
        </p:nvSpPr>
        <p:spPr>
          <a:xfrm>
            <a:off x="6995160" y="2852928"/>
            <a:ext cx="1737360" cy="274320"/>
          </a:xfrm>
          <a:prstGeom prst="rect">
            <a:avLst/>
          </a:prstGeom>
          <a:noFill/>
        </p:spPr>
        <p:txBody>
          <a:bodyPr wrap="square" anchor="t">
            <a:spAutoFit/>
          </a:bodyPr>
          <a:lstStyle/>
          <a:p>
            <a:pPr algn="ctr">
              <a:defRPr sz="900" b="0">
                <a:solidFill>
                  <a:srgbClr val="9C9C9C"/>
                </a:solidFill>
              </a:defRPr>
            </a:pPr>
            <a:r>
              <a:t>• CCPA compliant</a:t>
            </a:r>
          </a:p>
        </p:txBody>
      </p:sp>
      <p:sp>
        <p:nvSpPr>
          <p:cNvPr id="28" name="TextBox 27"/>
          <p:cNvSpPr txBox="1"/>
          <p:nvPr/>
        </p:nvSpPr>
        <p:spPr>
          <a:xfrm>
            <a:off x="6995160" y="3145536"/>
            <a:ext cx="1737360" cy="274320"/>
          </a:xfrm>
          <a:prstGeom prst="rect">
            <a:avLst/>
          </a:prstGeom>
          <a:noFill/>
        </p:spPr>
        <p:txBody>
          <a:bodyPr wrap="square" anchor="t">
            <a:spAutoFit/>
          </a:bodyPr>
          <a:lstStyle/>
          <a:p>
            <a:pPr algn="ctr">
              <a:defRPr sz="900" b="0">
                <a:solidFill>
                  <a:srgbClr val="9C9C9C"/>
                </a:solidFill>
              </a:defRPr>
            </a:pPr>
            <a:r>
              <a:t>• Data sovereignty</a:t>
            </a:r>
          </a:p>
        </p:txBody>
      </p:sp>
      <p:sp>
        <p:nvSpPr>
          <p:cNvPr id="29" name="Rounded Rectangle 28"/>
          <p:cNvSpPr/>
          <p:nvPr/>
        </p:nvSpPr>
        <p:spPr>
          <a:xfrm>
            <a:off x="320040" y="3749039"/>
            <a:ext cx="8503920" cy="91440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02920" y="3886200"/>
            <a:ext cx="502920" cy="5029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defRPr>
            </a:pPr>
            <a:r>
              <a:t>✓</a:t>
            </a:r>
          </a:p>
        </p:txBody>
      </p:sp>
      <p:sp>
        <p:nvSpPr>
          <p:cNvPr id="31" name="TextBox 30"/>
          <p:cNvSpPr txBox="1"/>
          <p:nvPr/>
        </p:nvSpPr>
        <p:spPr>
          <a:xfrm>
            <a:off x="1143000" y="3840480"/>
            <a:ext cx="7498079" cy="320040"/>
          </a:xfrm>
          <a:prstGeom prst="rect">
            <a:avLst/>
          </a:prstGeom>
          <a:noFill/>
        </p:spPr>
        <p:txBody>
          <a:bodyPr wrap="square" anchor="t">
            <a:spAutoFit/>
          </a:bodyPr>
          <a:lstStyle/>
          <a:p>
            <a:pPr algn="l">
              <a:defRPr sz="1200" b="1">
                <a:solidFill>
                  <a:srgbClr val="22C55E"/>
                </a:solidFill>
              </a:defRPr>
            </a:pPr>
            <a:r>
              <a:t>Trust Center: SOC 2 reports, pen test summaries, compliance docs</a:t>
            </a:r>
          </a:p>
        </p:txBody>
      </p:sp>
      <p:sp>
        <p:nvSpPr>
          <p:cNvPr id="32" name="TextBox 31"/>
          <p:cNvSpPr txBox="1"/>
          <p:nvPr/>
        </p:nvSpPr>
        <p:spPr>
          <a:xfrm>
            <a:off x="1143000" y="4160520"/>
            <a:ext cx="7498079" cy="320040"/>
          </a:xfrm>
          <a:prstGeom prst="rect">
            <a:avLst/>
          </a:prstGeom>
          <a:noFill/>
        </p:spPr>
        <p:txBody>
          <a:bodyPr wrap="square">
            <a:spAutoFit/>
          </a:bodyPr>
          <a:lstStyle/>
          <a:p>
            <a:pPr algn="l"/>
            <a:r>
              <a:rPr sz="1000" b="0" u="sng">
                <a:solidFill>
                  <a:srgbClr val="3B82F6"/>
                </a:solidFill>
                <a:hlinkClick r:id="rId3" tooltip="Click to visit Cursor Trust Center for compliance documentation"/>
              </a:rPr>
              <a:t>trust.cursor.com</a:t>
            </a:r>
          </a:p>
        </p:txBody>
      </p:sp>
      <p:sp>
        <p:nvSpPr>
          <p:cNvPr id="33" name="Rounded Rectangle 32"/>
          <p:cNvSpPr/>
          <p:nvPr/>
        </p:nvSpPr>
        <p:spPr>
          <a:xfrm>
            <a:off x="320040" y="4800600"/>
            <a:ext cx="8503920" cy="105156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4892040"/>
            <a:ext cx="8229600" cy="320040"/>
          </a:xfrm>
          <a:prstGeom prst="rect">
            <a:avLst/>
          </a:prstGeom>
          <a:noFill/>
        </p:spPr>
        <p:txBody>
          <a:bodyPr wrap="square" anchor="t">
            <a:spAutoFit/>
          </a:bodyPr>
          <a:lstStyle/>
          <a:p>
            <a:pPr algn="l">
              <a:defRPr sz="1000" b="1">
                <a:solidFill>
                  <a:srgbClr val="E5E5E5"/>
                </a:solidFill>
              </a:defRPr>
            </a:pPr>
            <a:r>
              <a:t>Why It Matters: Security posture lowers enterprise adoption risk → faster sales cycles</a:t>
            </a:r>
          </a:p>
        </p:txBody>
      </p:sp>
      <p:sp>
        <p:nvSpPr>
          <p:cNvPr id="35" name="TextBox 34"/>
          <p:cNvSpPr txBox="1"/>
          <p:nvPr/>
        </p:nvSpPr>
        <p:spPr>
          <a:xfrm>
            <a:off x="457200" y="5212080"/>
            <a:ext cx="8229600" cy="548640"/>
          </a:xfrm>
          <a:prstGeom prst="rect">
            <a:avLst/>
          </a:prstGeom>
          <a:noFill/>
        </p:spPr>
        <p:txBody>
          <a:bodyPr wrap="square" anchor="t">
            <a:spAutoFit/>
          </a:bodyPr>
          <a:lstStyle/>
          <a:p>
            <a:pPr algn="l">
              <a:defRPr sz="900" b="0">
                <a:solidFill>
                  <a:srgbClr val="9C9C9C"/>
                </a:solidFill>
              </a:defRPr>
            </a:pPr>
            <a:r>
              <a:t>Key Risks: Dependency on third-party AI models  |  Evolving AI regulation  |  Managing AI-generated code quality</a:t>
            </a:r>
          </a:p>
        </p:txBody>
      </p:sp>
      <p:sp>
        <p:nvSpPr>
          <p:cNvPr id="36" name="TextBox 35"/>
          <p:cNvSpPr txBox="1"/>
          <p:nvPr/>
        </p:nvSpPr>
        <p:spPr>
          <a:xfrm>
            <a:off x="274320" y="6537960"/>
            <a:ext cx="8595360" cy="274320"/>
          </a:xfrm>
          <a:prstGeom prst="rect">
            <a:avLst/>
          </a:prstGeom>
          <a:noFill/>
        </p:spPr>
        <p:txBody>
          <a:bodyPr wrap="square" anchor="t">
            <a:spAutoFit/>
          </a:bodyPr>
          <a:lstStyle/>
          <a:p>
            <a:pPr algn="l">
              <a:defRPr sz="700" b="0">
                <a:solidFill>
                  <a:srgbClr val="525252"/>
                </a:solidFill>
              </a:defRPr>
            </a:pPr>
            <a:r>
              <a:t>Sources: cursor.com/security | cursor.com/enterprise | trust.cursor.com</a:t>
            </a:r>
          </a:p>
        </p:txBody>
      </p:sp>
      <p:sp>
        <p:nvSpPr>
          <p:cNvPr id="37" name="TextBox 36"/>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228600"/>
            <a:ext cx="8229600" cy="502920"/>
          </a:xfrm>
          <a:prstGeom prst="rect">
            <a:avLst/>
          </a:prstGeom>
          <a:noFill/>
        </p:spPr>
        <p:txBody>
          <a:bodyPr wrap="square" anchor="t">
            <a:spAutoFit/>
          </a:bodyPr>
          <a:lstStyle/>
          <a:p>
            <a:pPr algn="l">
              <a:defRPr sz="3200" b="1">
                <a:solidFill>
                  <a:srgbClr val="FFFFFF"/>
                </a:solidFill>
              </a:defRPr>
            </a:pPr>
            <a:r>
              <a:t>Growth Stage, Funding &amp; Impact</a:t>
            </a:r>
          </a:p>
        </p:txBody>
      </p:sp>
      <p:sp>
        <p:nvSpPr>
          <p:cNvPr id="3" name="TextBox 2"/>
          <p:cNvSpPr txBox="1"/>
          <p:nvPr/>
        </p:nvSpPr>
        <p:spPr>
          <a:xfrm>
            <a:off x="457200" y="685800"/>
            <a:ext cx="8229600" cy="320040"/>
          </a:xfrm>
          <a:prstGeom prst="rect">
            <a:avLst/>
          </a:prstGeom>
          <a:noFill/>
        </p:spPr>
        <p:txBody>
          <a:bodyPr wrap="square" anchor="t">
            <a:spAutoFit/>
          </a:bodyPr>
          <a:lstStyle/>
          <a:p>
            <a:pPr algn="l">
              <a:defRPr sz="1200" b="0">
                <a:solidFill>
                  <a:srgbClr val="9C9C9C"/>
                </a:solidFill>
              </a:defRPr>
            </a:pPr>
            <a:r>
              <a:t>Scaling-Stage AI Venture with Significant Enterprise Adoption</a:t>
            </a:r>
          </a:p>
        </p:txBody>
      </p:sp>
      <p:sp>
        <p:nvSpPr>
          <p:cNvPr id="4" name="Rectangle 3"/>
          <p:cNvSpPr/>
          <p:nvPr/>
        </p:nvSpPr>
        <p:spPr>
          <a:xfrm>
            <a:off x="457200" y="1005840"/>
            <a:ext cx="18288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4320" y="1188720"/>
            <a:ext cx="2011680" cy="91440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280160"/>
            <a:ext cx="1828800" cy="457200"/>
          </a:xfrm>
          <a:prstGeom prst="rect">
            <a:avLst/>
          </a:prstGeom>
          <a:noFill/>
        </p:spPr>
        <p:txBody>
          <a:bodyPr wrap="square" anchor="t">
            <a:spAutoFit/>
          </a:bodyPr>
          <a:lstStyle/>
          <a:p>
            <a:pPr algn="ctr">
              <a:defRPr sz="2200" b="1">
                <a:solidFill>
                  <a:srgbClr val="8B5CF6"/>
                </a:solidFill>
              </a:defRPr>
            </a:pPr>
            <a:r>
              <a:t>$29.3B</a:t>
            </a:r>
          </a:p>
        </p:txBody>
      </p:sp>
      <p:sp>
        <p:nvSpPr>
          <p:cNvPr id="7" name="TextBox 6"/>
          <p:cNvSpPr txBox="1"/>
          <p:nvPr/>
        </p:nvSpPr>
        <p:spPr>
          <a:xfrm>
            <a:off x="365760" y="1737360"/>
            <a:ext cx="1828800" cy="274320"/>
          </a:xfrm>
          <a:prstGeom prst="rect">
            <a:avLst/>
          </a:prstGeom>
          <a:noFill/>
        </p:spPr>
        <p:txBody>
          <a:bodyPr wrap="square" anchor="t">
            <a:spAutoFit/>
          </a:bodyPr>
          <a:lstStyle/>
          <a:p>
            <a:pPr algn="ctr">
              <a:defRPr sz="1000" b="0">
                <a:solidFill>
                  <a:srgbClr val="9C9C9C"/>
                </a:solidFill>
              </a:defRPr>
            </a:pPr>
            <a:r>
              <a:t>Valuation</a:t>
            </a:r>
          </a:p>
        </p:txBody>
      </p:sp>
      <p:sp>
        <p:nvSpPr>
          <p:cNvPr id="8" name="Rounded Rectangle 7"/>
          <p:cNvSpPr/>
          <p:nvPr/>
        </p:nvSpPr>
        <p:spPr>
          <a:xfrm>
            <a:off x="2468880" y="1188720"/>
            <a:ext cx="2011680" cy="91440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0" y="1280160"/>
            <a:ext cx="1828800" cy="457200"/>
          </a:xfrm>
          <a:prstGeom prst="rect">
            <a:avLst/>
          </a:prstGeom>
          <a:noFill/>
        </p:spPr>
        <p:txBody>
          <a:bodyPr wrap="square" anchor="t">
            <a:spAutoFit/>
          </a:bodyPr>
          <a:lstStyle/>
          <a:p>
            <a:pPr algn="ctr">
              <a:defRPr sz="2200" b="1">
                <a:solidFill>
                  <a:srgbClr val="22C55E"/>
                </a:solidFill>
              </a:defRPr>
            </a:pPr>
            <a:r>
              <a:t>$2.3B</a:t>
            </a:r>
          </a:p>
        </p:txBody>
      </p:sp>
      <p:sp>
        <p:nvSpPr>
          <p:cNvPr id="10" name="TextBox 9"/>
          <p:cNvSpPr txBox="1"/>
          <p:nvPr/>
        </p:nvSpPr>
        <p:spPr>
          <a:xfrm>
            <a:off x="2560320" y="1737360"/>
            <a:ext cx="1828800" cy="274320"/>
          </a:xfrm>
          <a:prstGeom prst="rect">
            <a:avLst/>
          </a:prstGeom>
          <a:noFill/>
        </p:spPr>
        <p:txBody>
          <a:bodyPr wrap="square" anchor="t">
            <a:spAutoFit/>
          </a:bodyPr>
          <a:lstStyle/>
          <a:p>
            <a:pPr algn="ctr">
              <a:defRPr sz="1000" b="0">
                <a:solidFill>
                  <a:srgbClr val="9C9C9C"/>
                </a:solidFill>
              </a:defRPr>
            </a:pPr>
            <a:r>
              <a:t>Series D</a:t>
            </a:r>
          </a:p>
        </p:txBody>
      </p:sp>
      <p:sp>
        <p:nvSpPr>
          <p:cNvPr id="11" name="Rounded Rectangle 10"/>
          <p:cNvSpPr/>
          <p:nvPr/>
        </p:nvSpPr>
        <p:spPr>
          <a:xfrm>
            <a:off x="4663440" y="1188720"/>
            <a:ext cx="2011680" cy="91440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0" y="1280160"/>
            <a:ext cx="1828800" cy="457200"/>
          </a:xfrm>
          <a:prstGeom prst="rect">
            <a:avLst/>
          </a:prstGeom>
          <a:noFill/>
        </p:spPr>
        <p:txBody>
          <a:bodyPr wrap="square" anchor="t">
            <a:spAutoFit/>
          </a:bodyPr>
          <a:lstStyle/>
          <a:p>
            <a:pPr algn="ctr">
              <a:defRPr sz="2200" b="1">
                <a:solidFill>
                  <a:srgbClr val="3B82F6"/>
                </a:solidFill>
              </a:defRPr>
            </a:pPr>
            <a:r>
              <a:t>$500M+</a:t>
            </a:r>
          </a:p>
        </p:txBody>
      </p:sp>
      <p:sp>
        <p:nvSpPr>
          <p:cNvPr id="13" name="TextBox 12"/>
          <p:cNvSpPr txBox="1"/>
          <p:nvPr/>
        </p:nvSpPr>
        <p:spPr>
          <a:xfrm>
            <a:off x="4754880" y="1737360"/>
            <a:ext cx="1828800" cy="274320"/>
          </a:xfrm>
          <a:prstGeom prst="rect">
            <a:avLst/>
          </a:prstGeom>
          <a:noFill/>
        </p:spPr>
        <p:txBody>
          <a:bodyPr wrap="square" anchor="t">
            <a:spAutoFit/>
          </a:bodyPr>
          <a:lstStyle/>
          <a:p>
            <a:pPr algn="ctr">
              <a:defRPr sz="1000" b="0">
                <a:solidFill>
                  <a:srgbClr val="9C9C9C"/>
                </a:solidFill>
              </a:defRPr>
            </a:pPr>
            <a:r>
              <a:t>ARR</a:t>
            </a:r>
          </a:p>
        </p:txBody>
      </p:sp>
      <p:sp>
        <p:nvSpPr>
          <p:cNvPr id="14" name="Rounded Rectangle 13"/>
          <p:cNvSpPr/>
          <p:nvPr/>
        </p:nvSpPr>
        <p:spPr>
          <a:xfrm>
            <a:off x="6858000" y="1188720"/>
            <a:ext cx="2011680" cy="914400"/>
          </a:xfrm>
          <a:prstGeom prst="roundRect">
            <a:avLst/>
          </a:prstGeom>
          <a:solidFill>
            <a:srgbClr val="2626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1280160"/>
            <a:ext cx="1828800" cy="457200"/>
          </a:xfrm>
          <a:prstGeom prst="rect">
            <a:avLst/>
          </a:prstGeom>
          <a:noFill/>
        </p:spPr>
        <p:txBody>
          <a:bodyPr wrap="square" anchor="t">
            <a:spAutoFit/>
          </a:bodyPr>
          <a:lstStyle/>
          <a:p>
            <a:pPr algn="ctr">
              <a:defRPr sz="2200" b="1">
                <a:solidFill>
                  <a:srgbClr val="F59E0B"/>
                </a:solidFill>
              </a:defRPr>
            </a:pPr>
            <a:r>
              <a:t>50%+</a:t>
            </a:r>
          </a:p>
        </p:txBody>
      </p:sp>
      <p:sp>
        <p:nvSpPr>
          <p:cNvPr id="16" name="TextBox 15"/>
          <p:cNvSpPr txBox="1"/>
          <p:nvPr/>
        </p:nvSpPr>
        <p:spPr>
          <a:xfrm>
            <a:off x="6949440" y="1737360"/>
            <a:ext cx="1828800" cy="274320"/>
          </a:xfrm>
          <a:prstGeom prst="rect">
            <a:avLst/>
          </a:prstGeom>
          <a:noFill/>
        </p:spPr>
        <p:txBody>
          <a:bodyPr wrap="square" anchor="t">
            <a:spAutoFit/>
          </a:bodyPr>
          <a:lstStyle/>
          <a:p>
            <a:pPr algn="ctr">
              <a:defRPr sz="1000" b="0">
                <a:solidFill>
                  <a:srgbClr val="9C9C9C"/>
                </a:solidFill>
              </a:defRPr>
            </a:pPr>
            <a:r>
              <a:t>Fortune 500</a:t>
            </a:r>
          </a:p>
        </p:txBody>
      </p:sp>
      <p:sp>
        <p:nvSpPr>
          <p:cNvPr id="17" name="TextBox 16"/>
          <p:cNvSpPr txBox="1"/>
          <p:nvPr/>
        </p:nvSpPr>
        <p:spPr>
          <a:xfrm>
            <a:off x="365760" y="2286000"/>
            <a:ext cx="8412480" cy="274320"/>
          </a:xfrm>
          <a:prstGeom prst="rect">
            <a:avLst/>
          </a:prstGeom>
          <a:noFill/>
        </p:spPr>
        <p:txBody>
          <a:bodyPr wrap="square" anchor="t">
            <a:spAutoFit/>
          </a:bodyPr>
          <a:lstStyle/>
          <a:p>
            <a:pPr algn="l">
              <a:defRPr sz="1200" b="1">
                <a:solidFill>
                  <a:srgbClr val="FFFFFF"/>
                </a:solidFill>
              </a:defRPr>
            </a:pPr>
            <a:r>
              <a:t>Key Investors &amp; Backers</a:t>
            </a:r>
          </a:p>
        </p:txBody>
      </p:sp>
      <p:sp>
        <p:nvSpPr>
          <p:cNvPr id="18" name="Rounded Rectangle 17"/>
          <p:cNvSpPr/>
          <p:nvPr/>
        </p:nvSpPr>
        <p:spPr>
          <a:xfrm>
            <a:off x="365760" y="2606040"/>
            <a:ext cx="1280160" cy="32004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E5E5E5"/>
                </a:solidFill>
              </a:defRPr>
            </a:pPr>
            <a:r>
              <a:t>Accel</a:t>
            </a:r>
          </a:p>
        </p:txBody>
      </p:sp>
      <p:sp>
        <p:nvSpPr>
          <p:cNvPr id="19" name="Rounded Rectangle 18"/>
          <p:cNvSpPr/>
          <p:nvPr/>
        </p:nvSpPr>
        <p:spPr>
          <a:xfrm>
            <a:off x="1783080" y="2606040"/>
            <a:ext cx="1280160" cy="32004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E5E5E5"/>
                </a:solidFill>
              </a:defRPr>
            </a:pPr>
            <a:r>
              <a:t>Thrive</a:t>
            </a:r>
          </a:p>
        </p:txBody>
      </p:sp>
      <p:sp>
        <p:nvSpPr>
          <p:cNvPr id="20" name="Rounded Rectangle 19"/>
          <p:cNvSpPr/>
          <p:nvPr/>
        </p:nvSpPr>
        <p:spPr>
          <a:xfrm>
            <a:off x="3200400" y="2606040"/>
            <a:ext cx="1280160" cy="32004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E5E5E5"/>
                </a:solidFill>
              </a:defRPr>
            </a:pPr>
            <a:r>
              <a:t>a16z</a:t>
            </a:r>
          </a:p>
        </p:txBody>
      </p:sp>
      <p:sp>
        <p:nvSpPr>
          <p:cNvPr id="21" name="Rounded Rectangle 20"/>
          <p:cNvSpPr/>
          <p:nvPr/>
        </p:nvSpPr>
        <p:spPr>
          <a:xfrm>
            <a:off x="4617720" y="2606040"/>
            <a:ext cx="1280160" cy="32004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E5E5E5"/>
                </a:solidFill>
              </a:defRPr>
            </a:pPr>
            <a:r>
              <a:t>Coatue</a:t>
            </a:r>
          </a:p>
        </p:txBody>
      </p:sp>
      <p:sp>
        <p:nvSpPr>
          <p:cNvPr id="22" name="Rounded Rectangle 21"/>
          <p:cNvSpPr/>
          <p:nvPr/>
        </p:nvSpPr>
        <p:spPr>
          <a:xfrm>
            <a:off x="6035040" y="2606040"/>
            <a:ext cx="1280160" cy="32004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E5E5E5"/>
                </a:solidFill>
              </a:defRPr>
            </a:pPr>
            <a:r>
              <a:t>NVIDIA</a:t>
            </a:r>
          </a:p>
        </p:txBody>
      </p:sp>
      <p:sp>
        <p:nvSpPr>
          <p:cNvPr id="23" name="Rounded Rectangle 22"/>
          <p:cNvSpPr/>
          <p:nvPr/>
        </p:nvSpPr>
        <p:spPr>
          <a:xfrm>
            <a:off x="7452360" y="2606040"/>
            <a:ext cx="1280160" cy="320040"/>
          </a:xfrm>
          <a:prstGeom prst="roundRect">
            <a:avLst/>
          </a:prstGeom>
          <a:solidFill>
            <a:srgbClr val="262626"/>
          </a:solidFill>
          <a:ln w="12700">
            <a:solidFill>
              <a:srgbClr val="5252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0">
                <a:solidFill>
                  <a:srgbClr val="E5E5E5"/>
                </a:solidFill>
              </a:defRPr>
            </a:pPr>
            <a:r>
              <a:t>Google</a:t>
            </a:r>
          </a:p>
        </p:txBody>
      </p:sp>
      <p:sp>
        <p:nvSpPr>
          <p:cNvPr id="24" name="Rounded Rectangle 23"/>
          <p:cNvSpPr/>
          <p:nvPr/>
        </p:nvSpPr>
        <p:spPr>
          <a:xfrm>
            <a:off x="320040" y="3017520"/>
            <a:ext cx="8503920" cy="109728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02920" y="3291840"/>
            <a:ext cx="457200" cy="45720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SF</a:t>
            </a:r>
          </a:p>
        </p:txBody>
      </p:sp>
      <p:sp>
        <p:nvSpPr>
          <p:cNvPr id="26" name="TextBox 25"/>
          <p:cNvSpPr txBox="1"/>
          <p:nvPr/>
        </p:nvSpPr>
        <p:spPr>
          <a:xfrm>
            <a:off x="1097280" y="3154680"/>
            <a:ext cx="7498079" cy="320040"/>
          </a:xfrm>
          <a:prstGeom prst="rect">
            <a:avLst/>
          </a:prstGeom>
          <a:noFill/>
        </p:spPr>
        <p:txBody>
          <a:bodyPr wrap="square" anchor="t">
            <a:spAutoFit/>
          </a:bodyPr>
          <a:lstStyle/>
          <a:p>
            <a:pPr algn="l">
              <a:defRPr sz="1400" b="1">
                <a:solidFill>
                  <a:srgbClr val="22C55E"/>
                </a:solidFill>
              </a:defRPr>
            </a:pPr>
            <a:r>
              <a:t>Salesforce Case Study</a:t>
            </a:r>
          </a:p>
        </p:txBody>
      </p:sp>
      <p:sp>
        <p:nvSpPr>
          <p:cNvPr id="27" name="TextBox 26"/>
          <p:cNvSpPr txBox="1"/>
          <p:nvPr/>
        </p:nvSpPr>
        <p:spPr>
          <a:xfrm>
            <a:off x="1097280" y="3474720"/>
            <a:ext cx="7498079" cy="548640"/>
          </a:xfrm>
          <a:prstGeom prst="rect">
            <a:avLst/>
          </a:prstGeom>
          <a:noFill/>
        </p:spPr>
        <p:txBody>
          <a:bodyPr wrap="square" anchor="t">
            <a:spAutoFit/>
          </a:bodyPr>
          <a:lstStyle/>
          <a:p>
            <a:pPr algn="l">
              <a:defRPr sz="1100" b="0">
                <a:solidFill>
                  <a:srgbClr val="E5E5E5"/>
                </a:solidFill>
              </a:defRPr>
            </a:pPr>
            <a:r>
              <a:t>&gt;90% of Salesforce engineers use Cursor daily  •  Double-digit gains in velocity &amp; code quality</a:t>
            </a:r>
          </a:p>
        </p:txBody>
      </p:sp>
      <p:sp>
        <p:nvSpPr>
          <p:cNvPr id="28" name="Rounded Rectangle 27"/>
          <p:cNvSpPr/>
          <p:nvPr/>
        </p:nvSpPr>
        <p:spPr>
          <a:xfrm>
            <a:off x="320040" y="4297680"/>
            <a:ext cx="8503920" cy="1371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4434840"/>
            <a:ext cx="8229600" cy="320040"/>
          </a:xfrm>
          <a:prstGeom prst="rect">
            <a:avLst/>
          </a:prstGeom>
          <a:noFill/>
        </p:spPr>
        <p:txBody>
          <a:bodyPr wrap="square" anchor="t">
            <a:spAutoFit/>
          </a:bodyPr>
          <a:lstStyle/>
          <a:p>
            <a:pPr algn="ctr">
              <a:defRPr sz="1400" b="1">
                <a:solidFill>
                  <a:srgbClr val="FFFFFF"/>
                </a:solidFill>
              </a:defRPr>
            </a:pPr>
            <a:r>
              <a:t>Significance &amp; Disruption Potential</a:t>
            </a:r>
          </a:p>
        </p:txBody>
      </p:sp>
      <p:sp>
        <p:nvSpPr>
          <p:cNvPr id="30" name="TextBox 29"/>
          <p:cNvSpPr txBox="1"/>
          <p:nvPr/>
        </p:nvSpPr>
        <p:spPr>
          <a:xfrm>
            <a:off x="457200" y="4800600"/>
            <a:ext cx="8229600" cy="777240"/>
          </a:xfrm>
          <a:prstGeom prst="rect">
            <a:avLst/>
          </a:prstGeom>
          <a:noFill/>
        </p:spPr>
        <p:txBody>
          <a:bodyPr wrap="square" anchor="t">
            <a:spAutoFit/>
          </a:bodyPr>
          <a:lstStyle/>
          <a:p>
            <a:pPr algn="ctr">
              <a:defRPr sz="1100" b="0">
                <a:solidFill>
                  <a:srgbClr val="E5E5E5"/>
                </a:solidFill>
              </a:defRPr>
            </a:pPr>
            <a:r>
              <a:t>High potential to reshape how software engineers work with AI-native IDEs.</a:t>
            </a:r>
            <a:br/>
            <a:r>
              <a:t>Backed by top-tier investors  •  Proven enterprise traction  •  Strong moat via integration &amp; UX</a:t>
            </a:r>
          </a:p>
        </p:txBody>
      </p:sp>
      <p:sp>
        <p:nvSpPr>
          <p:cNvPr id="31" name="TextBox 30"/>
          <p:cNvSpPr txBox="1"/>
          <p:nvPr/>
        </p:nvSpPr>
        <p:spPr>
          <a:xfrm>
            <a:off x="274320" y="6537960"/>
            <a:ext cx="8595360" cy="274320"/>
          </a:xfrm>
          <a:prstGeom prst="rect">
            <a:avLst/>
          </a:prstGeom>
          <a:noFill/>
        </p:spPr>
        <p:txBody>
          <a:bodyPr wrap="square" anchor="t">
            <a:spAutoFit/>
          </a:bodyPr>
          <a:lstStyle/>
          <a:p>
            <a:pPr algn="l">
              <a:defRPr sz="700" b="0">
                <a:solidFill>
                  <a:srgbClr val="525252"/>
                </a:solidFill>
              </a:defRPr>
            </a:pPr>
            <a:r>
              <a:t>Sources: cursor.com/blog/series-d | cursor.com/blog/series-c | cursor.com/blog/salesforce</a:t>
            </a:r>
          </a:p>
        </p:txBody>
      </p:sp>
      <p:sp>
        <p:nvSpPr>
          <p:cNvPr id="32" name="TextBox 31"/>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square" anchor="t">
            <a:spAutoFit/>
          </a:bodyPr>
          <a:lstStyle/>
          <a:p>
            <a:pPr algn="l">
              <a:defRPr sz="3600" b="1">
                <a:solidFill>
                  <a:srgbClr val="FFFFFF"/>
                </a:solidFill>
              </a:defRPr>
            </a:pPr>
            <a:r>
              <a:t>Brief Demo Plan</a:t>
            </a:r>
          </a:p>
        </p:txBody>
      </p:sp>
      <p:sp>
        <p:nvSpPr>
          <p:cNvPr id="3" name="TextBox 2"/>
          <p:cNvSpPr txBox="1"/>
          <p:nvPr/>
        </p:nvSpPr>
        <p:spPr>
          <a:xfrm>
            <a:off x="457200" y="868680"/>
            <a:ext cx="8229600" cy="365760"/>
          </a:xfrm>
          <a:prstGeom prst="rect">
            <a:avLst/>
          </a:prstGeom>
          <a:noFill/>
        </p:spPr>
        <p:txBody>
          <a:bodyPr wrap="square" anchor="t">
            <a:spAutoFit/>
          </a:bodyPr>
          <a:lstStyle/>
          <a:p>
            <a:pPr algn="l">
              <a:defRPr sz="1400" b="0">
                <a:solidFill>
                  <a:srgbClr val="9C9C9C"/>
                </a:solidFill>
              </a:defRPr>
            </a:pPr>
            <a:r>
              <a:t>What I'll Show You</a:t>
            </a:r>
          </a:p>
        </p:txBody>
      </p:sp>
      <p:sp>
        <p:nvSpPr>
          <p:cNvPr id="4" name="Rectangle 3"/>
          <p:cNvSpPr/>
          <p:nvPr/>
        </p:nvSpPr>
        <p:spPr>
          <a:xfrm>
            <a:off x="457200" y="1280160"/>
            <a:ext cx="1828800" cy="381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645920"/>
            <a:ext cx="8229600" cy="1188720"/>
          </a:xfrm>
          <a:prstGeom prst="roundRect">
            <a:avLst/>
          </a:prstGeom>
          <a:solidFill>
            <a:srgbClr val="262626"/>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965960"/>
            <a:ext cx="548640" cy="54864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defRPr>
            </a:pPr>
            <a:r>
              <a:t>1</a:t>
            </a:r>
          </a:p>
        </p:txBody>
      </p:sp>
      <p:sp>
        <p:nvSpPr>
          <p:cNvPr id="7" name="TextBox 6"/>
          <p:cNvSpPr txBox="1"/>
          <p:nvPr/>
        </p:nvSpPr>
        <p:spPr>
          <a:xfrm>
            <a:off x="1371600" y="1874520"/>
            <a:ext cx="7132320" cy="411480"/>
          </a:xfrm>
          <a:prstGeom prst="rect">
            <a:avLst/>
          </a:prstGeom>
          <a:noFill/>
        </p:spPr>
        <p:txBody>
          <a:bodyPr wrap="square" anchor="t">
            <a:spAutoFit/>
          </a:bodyPr>
          <a:lstStyle/>
          <a:p>
            <a:pPr algn="l">
              <a:defRPr sz="1800" b="1">
                <a:solidFill>
                  <a:srgbClr val="8B5CF6"/>
                </a:solidFill>
              </a:defRPr>
            </a:pPr>
            <a:r>
              <a:t>Natural Language → Code</a:t>
            </a:r>
          </a:p>
        </p:txBody>
      </p:sp>
      <p:sp>
        <p:nvSpPr>
          <p:cNvPr id="8" name="TextBox 7"/>
          <p:cNvSpPr txBox="1"/>
          <p:nvPr/>
        </p:nvSpPr>
        <p:spPr>
          <a:xfrm>
            <a:off x="1371600" y="2286000"/>
            <a:ext cx="7132320" cy="457200"/>
          </a:xfrm>
          <a:prstGeom prst="rect">
            <a:avLst/>
          </a:prstGeom>
          <a:noFill/>
        </p:spPr>
        <p:txBody>
          <a:bodyPr wrap="square" anchor="t">
            <a:spAutoFit/>
          </a:bodyPr>
          <a:lstStyle/>
          <a:p>
            <a:pPr algn="l">
              <a:defRPr sz="1200" b="0">
                <a:solidFill>
                  <a:srgbClr val="E5E5E5"/>
                </a:solidFill>
              </a:defRPr>
            </a:pPr>
            <a:r>
              <a:t>Show Agent building a small feature from a plain English description</a:t>
            </a:r>
          </a:p>
        </p:txBody>
      </p:sp>
      <p:sp>
        <p:nvSpPr>
          <p:cNvPr id="9" name="Rounded Rectangle 8"/>
          <p:cNvSpPr/>
          <p:nvPr/>
        </p:nvSpPr>
        <p:spPr>
          <a:xfrm>
            <a:off x="457200" y="3017520"/>
            <a:ext cx="8229600" cy="1188720"/>
          </a:xfrm>
          <a:prstGeom prst="roundRect">
            <a:avLst/>
          </a:prstGeom>
          <a:solidFill>
            <a:srgbClr val="262626"/>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0080" y="3337560"/>
            <a:ext cx="548640" cy="54864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defRPr>
            </a:pPr>
            <a:r>
              <a:t>2</a:t>
            </a:r>
          </a:p>
        </p:txBody>
      </p:sp>
      <p:sp>
        <p:nvSpPr>
          <p:cNvPr id="11" name="TextBox 10"/>
          <p:cNvSpPr txBox="1"/>
          <p:nvPr/>
        </p:nvSpPr>
        <p:spPr>
          <a:xfrm>
            <a:off x="1371600" y="3246120"/>
            <a:ext cx="7132320" cy="411480"/>
          </a:xfrm>
          <a:prstGeom prst="rect">
            <a:avLst/>
          </a:prstGeom>
          <a:noFill/>
        </p:spPr>
        <p:txBody>
          <a:bodyPr wrap="square" anchor="t">
            <a:spAutoFit/>
          </a:bodyPr>
          <a:lstStyle/>
          <a:p>
            <a:pPr algn="l">
              <a:defRPr sz="1800" b="1">
                <a:solidFill>
                  <a:srgbClr val="3B82F6"/>
                </a:solidFill>
              </a:defRPr>
            </a:pPr>
            <a:r>
              <a:t>Multi-File Refactor</a:t>
            </a:r>
          </a:p>
        </p:txBody>
      </p:sp>
      <p:sp>
        <p:nvSpPr>
          <p:cNvPr id="12" name="TextBox 11"/>
          <p:cNvSpPr txBox="1"/>
          <p:nvPr/>
        </p:nvSpPr>
        <p:spPr>
          <a:xfrm>
            <a:off x="1371600" y="3657600"/>
            <a:ext cx="7132320" cy="457200"/>
          </a:xfrm>
          <a:prstGeom prst="rect">
            <a:avLst/>
          </a:prstGeom>
          <a:noFill/>
        </p:spPr>
        <p:txBody>
          <a:bodyPr wrap="square" anchor="t">
            <a:spAutoFit/>
          </a:bodyPr>
          <a:lstStyle/>
          <a:p>
            <a:pPr algn="l">
              <a:defRPr sz="1200" b="0">
                <a:solidFill>
                  <a:srgbClr val="E5E5E5"/>
                </a:solidFill>
              </a:defRPr>
            </a:pPr>
            <a:r>
              <a:t>Demonstrate AI editing multiple files to fix a bug or improve structure</a:t>
            </a:r>
          </a:p>
        </p:txBody>
      </p:sp>
      <p:sp>
        <p:nvSpPr>
          <p:cNvPr id="13" name="Rounded Rectangle 12"/>
          <p:cNvSpPr/>
          <p:nvPr/>
        </p:nvSpPr>
        <p:spPr>
          <a:xfrm>
            <a:off x="457200" y="4389120"/>
            <a:ext cx="8229600" cy="1188720"/>
          </a:xfrm>
          <a:prstGeom prst="roundRect">
            <a:avLst/>
          </a:prstGeom>
          <a:solidFill>
            <a:srgbClr val="262626"/>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0080" y="4709160"/>
            <a:ext cx="548640" cy="54864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defRPr>
            </a:pPr>
            <a:r>
              <a:t>3</a:t>
            </a:r>
          </a:p>
        </p:txBody>
      </p:sp>
      <p:sp>
        <p:nvSpPr>
          <p:cNvPr id="15" name="TextBox 14"/>
          <p:cNvSpPr txBox="1"/>
          <p:nvPr/>
        </p:nvSpPr>
        <p:spPr>
          <a:xfrm>
            <a:off x="1371600" y="4617720"/>
            <a:ext cx="7132320" cy="411480"/>
          </a:xfrm>
          <a:prstGeom prst="rect">
            <a:avLst/>
          </a:prstGeom>
          <a:noFill/>
        </p:spPr>
        <p:txBody>
          <a:bodyPr wrap="square" anchor="t">
            <a:spAutoFit/>
          </a:bodyPr>
          <a:lstStyle/>
          <a:p>
            <a:pPr algn="l">
              <a:defRPr sz="1800" b="1">
                <a:solidFill>
                  <a:srgbClr val="22C55E"/>
                </a:solidFill>
              </a:defRPr>
            </a:pPr>
            <a:r>
              <a:rPr dirty="0"/>
              <a:t>Co</a:t>
            </a:r>
            <a:r>
              <a:rPr lang="en-US" dirty="0"/>
              <a:t>n</a:t>
            </a:r>
            <a:r>
              <a:rPr dirty="0"/>
              <a:t>trols &amp; Settings</a:t>
            </a:r>
          </a:p>
        </p:txBody>
      </p:sp>
      <p:sp>
        <p:nvSpPr>
          <p:cNvPr id="16" name="TextBox 15"/>
          <p:cNvSpPr txBox="1"/>
          <p:nvPr/>
        </p:nvSpPr>
        <p:spPr>
          <a:xfrm>
            <a:off x="1371600" y="5029200"/>
            <a:ext cx="7132320" cy="457200"/>
          </a:xfrm>
          <a:prstGeom prst="rect">
            <a:avLst/>
          </a:prstGeom>
          <a:noFill/>
        </p:spPr>
        <p:txBody>
          <a:bodyPr wrap="square" anchor="t">
            <a:spAutoFit/>
          </a:bodyPr>
          <a:lstStyle/>
          <a:p>
            <a:pPr algn="l">
              <a:defRPr sz="1200" b="0">
                <a:solidFill>
                  <a:srgbClr val="E5E5E5"/>
                </a:solidFill>
              </a:defRPr>
            </a:pPr>
            <a:r>
              <a:t>Briefly show model selection, settings, and enterprise controls</a:t>
            </a:r>
          </a:p>
        </p:txBody>
      </p:sp>
      <p:sp>
        <p:nvSpPr>
          <p:cNvPr id="17" name="TextBox 16"/>
          <p:cNvSpPr txBox="1"/>
          <p:nvPr/>
        </p:nvSpPr>
        <p:spPr>
          <a:xfrm>
            <a:off x="457200" y="5852160"/>
            <a:ext cx="8229600" cy="365760"/>
          </a:xfrm>
          <a:prstGeom prst="rect">
            <a:avLst/>
          </a:prstGeom>
          <a:noFill/>
        </p:spPr>
        <p:txBody>
          <a:bodyPr wrap="square" anchor="t">
            <a:spAutoFit/>
          </a:bodyPr>
          <a:lstStyle/>
          <a:p>
            <a:pPr algn="ctr">
              <a:defRPr sz="1000" b="0">
                <a:solidFill>
                  <a:srgbClr val="525252"/>
                </a:solidFill>
              </a:defRPr>
            </a:pPr>
            <a:r>
              <a:t>Demo duration: ~60-90 seconds (live or pre-recorded)</a:t>
            </a:r>
          </a:p>
        </p:txBody>
      </p:sp>
      <p:sp>
        <p:nvSpPr>
          <p:cNvPr id="18" name="TextBox 17"/>
          <p:cNvSpPr txBox="1"/>
          <p:nvPr/>
        </p:nvSpPr>
        <p:spPr>
          <a:xfrm>
            <a:off x="8595360" y="6492240"/>
            <a:ext cx="365760" cy="274320"/>
          </a:xfrm>
          <a:prstGeom prst="rect">
            <a:avLst/>
          </a:prstGeom>
          <a:noFill/>
        </p:spPr>
        <p:txBody>
          <a:bodyPr wrap="square" anchor="t">
            <a:spAutoFit/>
          </a:bodyPr>
          <a:lstStyle/>
          <a:p>
            <a:pPr algn="r">
              <a:defRPr sz="1000" b="0">
                <a:solidFill>
                  <a:srgbClr val="525252"/>
                </a:solidFill>
              </a:defRPr>
            </a:pPr>
            <a: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1600</Words>
  <Application>Microsoft Macintosh PowerPoint</Application>
  <PresentationFormat>On-screen Show (4:3)</PresentationFormat>
  <Paragraphs>192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Viraj Shah</cp:lastModifiedBy>
  <cp:revision>2</cp:revision>
  <dcterms:created xsi:type="dcterms:W3CDTF">2013-01-27T09:14:16Z</dcterms:created>
  <dcterms:modified xsi:type="dcterms:W3CDTF">2026-02-04T18:30:44Z</dcterms:modified>
  <cp:category/>
</cp:coreProperties>
</file>